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14800"/>
            <a:ext cx="12188952"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371600"/>
            <a:ext cx="9144000" cy="640080"/>
          </a:xfrm>
          <a:prstGeom prst="rect">
            <a:avLst/>
          </a:prstGeom>
          <a:noFill/>
        </p:spPr>
        <p:txBody>
          <a:bodyPr wrap="square">
            <a:spAutoFit/>
          </a:bodyPr>
          <a:lstStyle/>
          <a:p>
            <a:pPr algn="l"/>
            <a:r>
              <a:rPr sz="2200" b="0">
                <a:solidFill>
                  <a:srgbClr val="94A3B8"/>
                </a:solidFill>
                <a:latin typeface="Meiryo"/>
              </a:rPr>
              <a:t>グミ市場</a:t>
            </a:r>
          </a:p>
        </p:txBody>
      </p:sp>
      <p:sp>
        <p:nvSpPr>
          <p:cNvPr id="5" name="TextBox 4"/>
          <p:cNvSpPr txBox="1"/>
          <p:nvPr/>
        </p:nvSpPr>
        <p:spPr>
          <a:xfrm>
            <a:off x="1371600" y="2011680"/>
            <a:ext cx="9144000" cy="1371600"/>
          </a:xfrm>
          <a:prstGeom prst="rect">
            <a:avLst/>
          </a:prstGeom>
          <a:noFill/>
        </p:spPr>
        <p:txBody>
          <a:bodyPr wrap="square">
            <a:spAutoFit/>
          </a:bodyPr>
          <a:lstStyle/>
          <a:p>
            <a:pPr algn="l"/>
            <a:r>
              <a:rPr sz="4200" b="1">
                <a:solidFill>
                  <a:srgbClr val="FFFFFF"/>
                </a:solidFill>
                <a:latin typeface="Meiryo"/>
              </a:rPr>
              <a:t>ポジショニングマップ
分析レポート</a:t>
            </a:r>
          </a:p>
        </p:txBody>
      </p:sp>
      <p:sp>
        <p:nvSpPr>
          <p:cNvPr id="6" name="TextBox 5"/>
          <p:cNvSpPr txBox="1"/>
          <p:nvPr/>
        </p:nvSpPr>
        <p:spPr>
          <a:xfrm>
            <a:off x="1371600" y="4389120"/>
            <a:ext cx="9144000" cy="457200"/>
          </a:xfrm>
          <a:prstGeom prst="rect">
            <a:avLst/>
          </a:prstGeom>
          <a:noFill/>
        </p:spPr>
        <p:txBody>
          <a:bodyPr wrap="square">
            <a:spAutoFit/>
          </a:bodyPr>
          <a:lstStyle/>
          <a:p>
            <a:pPr algn="l"/>
            <a:r>
              <a:rPr sz="1400" b="0">
                <a:solidFill>
                  <a:srgbClr val="94A3B8"/>
                </a:solidFill>
                <a:latin typeface="Meiryo"/>
              </a:rPr>
              <a:t>2023〜2026年 新発売グミの市場トレンド分析</a:t>
            </a:r>
          </a:p>
        </p:txBody>
      </p:sp>
      <p:sp>
        <p:nvSpPr>
          <p:cNvPr id="7" name="TextBox 6"/>
          <p:cNvSpPr txBox="1"/>
          <p:nvPr/>
        </p:nvSpPr>
        <p:spPr>
          <a:xfrm>
            <a:off x="1371600" y="4846320"/>
            <a:ext cx="9144000" cy="365760"/>
          </a:xfrm>
          <a:prstGeom prst="rect">
            <a:avLst/>
          </a:prstGeom>
          <a:noFill/>
        </p:spPr>
        <p:txBody>
          <a:bodyPr wrap="square">
            <a:spAutoFit/>
          </a:bodyPr>
          <a:lstStyle/>
          <a:p>
            <a:pPr algn="l"/>
            <a:r>
              <a:rPr sz="1200" b="0">
                <a:solidFill>
                  <a:srgbClr val="94A3B8"/>
                </a:solidFill>
                <a:latin typeface="Meiryo"/>
              </a:rPr>
              <a:t>分析軸：「食感（ハード↔ソフト）」 × 「味の方向性（果汁感・ナチュラル↔刺激系）」</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005840"/>
            <a:ext cx="12188952"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640080"/>
          </a:xfrm>
          <a:prstGeom prst="rect">
            <a:avLst/>
          </a:prstGeom>
          <a:noFill/>
        </p:spPr>
        <p:txBody>
          <a:bodyPr wrap="square">
            <a:spAutoFit/>
          </a:bodyPr>
          <a:lstStyle/>
          <a:p>
            <a:pPr algn="l"/>
            <a:r>
              <a:rPr sz="2200" b="1">
                <a:solidFill>
                  <a:srgbClr val="1B2A4A"/>
                </a:solidFill>
                <a:latin typeface="Meiryo"/>
              </a:rPr>
              <a:t>調査概要</a:t>
            </a:r>
          </a:p>
        </p:txBody>
      </p:sp>
      <p:sp>
        <p:nvSpPr>
          <p:cNvPr id="5" name="Rounded Rectangle 4"/>
          <p:cNvSpPr/>
          <p:nvPr/>
        </p:nvSpPr>
        <p:spPr>
          <a:xfrm>
            <a:off x="548640" y="1371600"/>
            <a:ext cx="34747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a:lstStyle/>
          <a:p>
            <a:pPr algn="ctr"/>
            <a:r>
              <a:rPr sz="2400" b="1">
                <a:solidFill>
                  <a:srgbClr val="3B82F6"/>
                </a:solidFill>
                <a:latin typeface="Meiryo"/>
              </a:rPr>
              <a:t>2023-2026</a:t>
            </a:r>
          </a:p>
          <a:p>
            <a:pPr algn="ctr"/>
            <a:r>
              <a:rPr sz="900">
                <a:solidFill>
                  <a:srgbClr val="475569"/>
                </a:solidFill>
                <a:latin typeface="Meiryo"/>
              </a:rPr>
              <a:t>対象期間</a:t>
            </a:r>
          </a:p>
        </p:txBody>
      </p:sp>
      <p:sp>
        <p:nvSpPr>
          <p:cNvPr id="6" name="Rounded Rectangle 5"/>
          <p:cNvSpPr/>
          <p:nvPr/>
        </p:nvSpPr>
        <p:spPr>
          <a:xfrm>
            <a:off x="4297680" y="1371600"/>
            <a:ext cx="34747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a:lstStyle/>
          <a:p>
            <a:pPr algn="ctr"/>
            <a:r>
              <a:rPr sz="2400" b="1">
                <a:solidFill>
                  <a:srgbClr val="8B5CF6"/>
                </a:solidFill>
                <a:latin typeface="Meiryo"/>
              </a:rPr>
              <a:t>27商品</a:t>
            </a:r>
          </a:p>
          <a:p>
            <a:pPr algn="ctr"/>
            <a:r>
              <a:rPr sz="900">
                <a:solidFill>
                  <a:srgbClr val="475569"/>
                </a:solidFill>
                <a:latin typeface="Meiryo"/>
              </a:rPr>
              <a:t>新商品数</a:t>
            </a:r>
          </a:p>
        </p:txBody>
      </p:sp>
      <p:sp>
        <p:nvSpPr>
          <p:cNvPr id="7" name="Rounded Rectangle 6"/>
          <p:cNvSpPr/>
          <p:nvPr/>
        </p:nvSpPr>
        <p:spPr>
          <a:xfrm>
            <a:off x="8046720" y="1371600"/>
            <a:ext cx="3474720" cy="10972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a:lstStyle/>
          <a:p>
            <a:pPr algn="ctr"/>
            <a:r>
              <a:rPr sz="2400" b="1">
                <a:solidFill>
                  <a:srgbClr val="3B82F6"/>
                </a:solidFill>
                <a:latin typeface="Meiryo"/>
              </a:rPr>
              <a:t>新発売グミ</a:t>
            </a:r>
          </a:p>
          <a:p>
            <a:pPr algn="ctr"/>
            <a:r>
              <a:rPr sz="900">
                <a:solidFill>
                  <a:srgbClr val="475569"/>
                </a:solidFill>
                <a:latin typeface="Meiryo"/>
              </a:rPr>
              <a:t>分析対象</a:t>
            </a:r>
          </a:p>
        </p:txBody>
      </p:sp>
      <p:sp>
        <p:nvSpPr>
          <p:cNvPr id="8" name="TextBox 7"/>
          <p:cNvSpPr txBox="1"/>
          <p:nvPr/>
        </p:nvSpPr>
        <p:spPr>
          <a:xfrm>
            <a:off x="548640" y="2926080"/>
            <a:ext cx="10972800" cy="365760"/>
          </a:xfrm>
          <a:prstGeom prst="rect">
            <a:avLst/>
          </a:prstGeom>
          <a:noFill/>
        </p:spPr>
        <p:txBody>
          <a:bodyPr wrap="square">
            <a:spAutoFit/>
          </a:bodyPr>
          <a:lstStyle/>
          <a:p>
            <a:pPr algn="l"/>
            <a:r>
              <a:rPr sz="1600" b="1">
                <a:solidFill>
                  <a:srgbClr val="1B2A4A"/>
                </a:solidFill>
                <a:latin typeface="Meiryo"/>
              </a:rPr>
              <a:t>分析軸</a:t>
            </a:r>
          </a:p>
        </p:txBody>
      </p:sp>
      <p:sp>
        <p:nvSpPr>
          <p:cNvPr id="9" name="Rounded Rectangle 8"/>
          <p:cNvSpPr/>
          <p:nvPr/>
        </p:nvSpPr>
        <p:spPr>
          <a:xfrm>
            <a:off x="548640" y="3474720"/>
            <a:ext cx="5303520" cy="1371600"/>
          </a:xfrm>
          <a:prstGeom prst="roundRect">
            <a:avLst/>
          </a:prstGeom>
          <a:solidFill>
            <a:srgbClr val="F5F3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3566160"/>
            <a:ext cx="4572000" cy="365760"/>
          </a:xfrm>
          <a:prstGeom prst="rect">
            <a:avLst/>
          </a:prstGeom>
          <a:noFill/>
        </p:spPr>
        <p:txBody>
          <a:bodyPr wrap="square">
            <a:spAutoFit/>
          </a:bodyPr>
          <a:lstStyle/>
          <a:p>
            <a:pPr algn="l"/>
            <a:r>
              <a:rPr sz="1400" b="1">
                <a:solidFill>
                  <a:srgbClr val="8B5CF6"/>
                </a:solidFill>
                <a:latin typeface="Meiryo"/>
              </a:rPr>
              <a:t>横軸：食感</a:t>
            </a:r>
          </a:p>
        </p:txBody>
      </p:sp>
      <p:sp>
        <p:nvSpPr>
          <p:cNvPr id="11" name="TextBox 10"/>
          <p:cNvSpPr txBox="1"/>
          <p:nvPr/>
        </p:nvSpPr>
        <p:spPr>
          <a:xfrm>
            <a:off x="822960" y="3931920"/>
            <a:ext cx="4572000" cy="914400"/>
          </a:xfrm>
          <a:prstGeom prst="rect">
            <a:avLst/>
          </a:prstGeom>
          <a:noFill/>
        </p:spPr>
        <p:txBody>
          <a:bodyPr wrap="square">
            <a:spAutoFit/>
          </a:bodyPr>
          <a:lstStyle/>
          <a:p>
            <a:pPr algn="l"/>
            <a:r>
              <a:rPr sz="1000" b="0">
                <a:solidFill>
                  <a:srgbClr val="475569"/>
                </a:solidFill>
                <a:latin typeface="Meiryo"/>
              </a:rPr>
              <a:t>ハード（噛み応え重視）← → ソフト（やわらかい・新食感）
噛むことで得られる満足感から、
もちもち・とろける等の新しい食感体験まで</a:t>
            </a:r>
          </a:p>
        </p:txBody>
      </p:sp>
      <p:sp>
        <p:nvSpPr>
          <p:cNvPr id="12" name="Rounded Rectangle 11"/>
          <p:cNvSpPr/>
          <p:nvPr/>
        </p:nvSpPr>
        <p:spPr>
          <a:xfrm>
            <a:off x="6217920" y="3474720"/>
            <a:ext cx="5303520" cy="1371600"/>
          </a:xfrm>
          <a:prstGeom prst="roundRect">
            <a:avLst/>
          </a:prstGeom>
          <a:solidFill>
            <a:srgbClr val="FFFBE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92240" y="3566160"/>
            <a:ext cx="4572000" cy="365760"/>
          </a:xfrm>
          <a:prstGeom prst="rect">
            <a:avLst/>
          </a:prstGeom>
          <a:noFill/>
        </p:spPr>
        <p:txBody>
          <a:bodyPr wrap="square">
            <a:spAutoFit/>
          </a:bodyPr>
          <a:lstStyle/>
          <a:p>
            <a:pPr algn="l"/>
            <a:r>
              <a:rPr sz="1400" b="1">
                <a:solidFill>
                  <a:srgbClr val="F59E0B"/>
                </a:solidFill>
                <a:latin typeface="Meiryo"/>
              </a:rPr>
              <a:t>縦軸：味の方向性</a:t>
            </a:r>
          </a:p>
        </p:txBody>
      </p:sp>
      <p:sp>
        <p:nvSpPr>
          <p:cNvPr id="14" name="TextBox 13"/>
          <p:cNvSpPr txBox="1"/>
          <p:nvPr/>
        </p:nvSpPr>
        <p:spPr>
          <a:xfrm>
            <a:off x="6492240" y="3931920"/>
            <a:ext cx="4572000" cy="914400"/>
          </a:xfrm>
          <a:prstGeom prst="rect">
            <a:avLst/>
          </a:prstGeom>
          <a:noFill/>
        </p:spPr>
        <p:txBody>
          <a:bodyPr wrap="square">
            <a:spAutoFit/>
          </a:bodyPr>
          <a:lstStyle/>
          <a:p>
            <a:pPr algn="l"/>
            <a:r>
              <a:rPr sz="1000" b="0">
                <a:solidFill>
                  <a:srgbClr val="475569"/>
                </a:solidFill>
                <a:latin typeface="Meiryo"/>
              </a:rPr>
              <a:t>果汁感・ナチュラル ↑ ↓ 刺激系・酸味・人工的フレーバー
フルーツ本来の味わいを追求する商品から、
刺激・酸味・コラボ味など個性的な味まで</a:t>
            </a:r>
          </a:p>
        </p:txBody>
      </p:sp>
      <p:sp>
        <p:nvSpPr>
          <p:cNvPr id="15" name="Rounded Rectangle 14"/>
          <p:cNvSpPr/>
          <p:nvPr/>
        </p:nvSpPr>
        <p:spPr>
          <a:xfrm>
            <a:off x="548640" y="5303520"/>
            <a:ext cx="10972800" cy="4572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r>
              <a:rPr sz="1100" b="1">
                <a:solidFill>
                  <a:srgbClr val="1B2A4A"/>
                </a:solidFill>
                <a:latin typeface="Meiryo"/>
              </a:rPr>
              <a:t>目的：直近3年間のグミ市場の新商品トレンドをポジショニングマップで可視化し、競合状況と市場機会を特定する</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005840"/>
            <a:ext cx="12188952"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640080"/>
          </a:xfrm>
          <a:prstGeom prst="rect">
            <a:avLst/>
          </a:prstGeom>
          <a:noFill/>
        </p:spPr>
        <p:txBody>
          <a:bodyPr wrap="square">
            <a:spAutoFit/>
          </a:bodyPr>
          <a:lstStyle/>
          <a:p>
            <a:pPr algn="l"/>
            <a:r>
              <a:rPr sz="2200" b="1">
                <a:solidFill>
                  <a:srgbClr val="1B2A4A"/>
                </a:solidFill>
                <a:latin typeface="Meiryo"/>
              </a:rPr>
              <a:t>ポジショニングマップ</a:t>
            </a:r>
          </a:p>
        </p:txBody>
      </p:sp>
      <p:sp>
        <p:nvSpPr>
          <p:cNvPr id="5" name="Rectangle 4"/>
          <p:cNvSpPr/>
          <p:nvPr/>
        </p:nvSpPr>
        <p:spPr>
          <a:xfrm>
            <a:off x="914400" y="1188720"/>
            <a:ext cx="5029200" cy="2514600"/>
          </a:xfrm>
          <a:prstGeom prst="rect">
            <a:avLst/>
          </a:prstGeom>
          <a:solidFill>
            <a:srgbClr val="F0F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0" y="1188720"/>
            <a:ext cx="5029200" cy="2514600"/>
          </a:xfrm>
          <a:prstGeom prst="rect">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14400" y="3703320"/>
            <a:ext cx="5029200" cy="2514600"/>
          </a:xfrm>
          <a:prstGeom prst="rect">
            <a:avLst/>
          </a:prstGeom>
          <a:solidFill>
            <a:srgbClr val="FDF2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943600" y="3703320"/>
            <a:ext cx="5029200" cy="2514600"/>
          </a:xfrm>
          <a:prstGeom prst="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25312" y="1188720"/>
            <a:ext cx="36576" cy="502920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3685032"/>
            <a:ext cx="10058400" cy="36576"/>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1051560"/>
            <a:ext cx="2743200" cy="274320"/>
          </a:xfrm>
          <a:prstGeom prst="rect">
            <a:avLst/>
          </a:prstGeom>
          <a:noFill/>
        </p:spPr>
        <p:txBody>
          <a:bodyPr wrap="square">
            <a:spAutoFit/>
          </a:bodyPr>
          <a:lstStyle/>
          <a:p>
            <a:pPr algn="ctr"/>
            <a:r>
              <a:rPr sz="1000" b="1">
                <a:solidFill>
                  <a:srgbClr val="10B981"/>
                </a:solidFill>
                <a:latin typeface="Meiryo"/>
              </a:rPr>
              <a:t>果汁感・ナチュラル</a:t>
            </a:r>
          </a:p>
        </p:txBody>
      </p:sp>
      <p:sp>
        <p:nvSpPr>
          <p:cNvPr id="12" name="TextBox 11"/>
          <p:cNvSpPr txBox="1"/>
          <p:nvPr/>
        </p:nvSpPr>
        <p:spPr>
          <a:xfrm>
            <a:off x="4572000" y="6263640"/>
            <a:ext cx="2743200" cy="274320"/>
          </a:xfrm>
          <a:prstGeom prst="rect">
            <a:avLst/>
          </a:prstGeom>
          <a:noFill/>
        </p:spPr>
        <p:txBody>
          <a:bodyPr wrap="square">
            <a:spAutoFit/>
          </a:bodyPr>
          <a:lstStyle/>
          <a:p>
            <a:pPr algn="ctr"/>
            <a:r>
              <a:rPr sz="1000" b="1">
                <a:solidFill>
                  <a:srgbClr val="EF4444"/>
                </a:solidFill>
                <a:latin typeface="Meiryo"/>
              </a:rPr>
              <a:t>刺激・酸味・人工的</a:t>
            </a:r>
          </a:p>
        </p:txBody>
      </p:sp>
      <p:sp>
        <p:nvSpPr>
          <p:cNvPr id="13" name="TextBox 12"/>
          <p:cNvSpPr txBox="1"/>
          <p:nvPr/>
        </p:nvSpPr>
        <p:spPr>
          <a:xfrm>
            <a:off x="914400" y="3474720"/>
            <a:ext cx="1371600" cy="274320"/>
          </a:xfrm>
          <a:prstGeom prst="rect">
            <a:avLst/>
          </a:prstGeom>
          <a:noFill/>
        </p:spPr>
        <p:txBody>
          <a:bodyPr wrap="square">
            <a:spAutoFit/>
          </a:bodyPr>
          <a:lstStyle/>
          <a:p>
            <a:pPr algn="ctr"/>
            <a:r>
              <a:rPr sz="1000" b="1">
                <a:solidFill>
                  <a:srgbClr val="1B2A4A"/>
                </a:solidFill>
                <a:latin typeface="Meiryo"/>
              </a:rPr>
              <a:t>ハード</a:t>
            </a:r>
          </a:p>
        </p:txBody>
      </p:sp>
      <p:sp>
        <p:nvSpPr>
          <p:cNvPr id="14" name="TextBox 13"/>
          <p:cNvSpPr txBox="1"/>
          <p:nvPr/>
        </p:nvSpPr>
        <p:spPr>
          <a:xfrm>
            <a:off x="9601200" y="3474720"/>
            <a:ext cx="1371600" cy="274320"/>
          </a:xfrm>
          <a:prstGeom prst="rect">
            <a:avLst/>
          </a:prstGeom>
          <a:noFill/>
        </p:spPr>
        <p:txBody>
          <a:bodyPr wrap="square">
            <a:spAutoFit/>
          </a:bodyPr>
          <a:lstStyle/>
          <a:p>
            <a:pPr algn="ctr"/>
            <a:r>
              <a:rPr sz="1000" b="1">
                <a:solidFill>
                  <a:srgbClr val="8B5CF6"/>
                </a:solidFill>
                <a:latin typeface="Meiryo"/>
              </a:rPr>
              <a:t>ソフト</a:t>
            </a:r>
          </a:p>
        </p:txBody>
      </p:sp>
      <p:sp>
        <p:nvSpPr>
          <p:cNvPr id="15" name="TextBox 14"/>
          <p:cNvSpPr txBox="1"/>
          <p:nvPr/>
        </p:nvSpPr>
        <p:spPr>
          <a:xfrm>
            <a:off x="1097280" y="1280160"/>
            <a:ext cx="1828800" cy="457200"/>
          </a:xfrm>
          <a:prstGeom prst="rect">
            <a:avLst/>
          </a:prstGeom>
          <a:noFill/>
        </p:spPr>
        <p:txBody>
          <a:bodyPr wrap="square">
            <a:spAutoFit/>
          </a:bodyPr>
          <a:lstStyle/>
          <a:p>
            <a:pPr algn="l"/>
            <a:r>
              <a:rPr sz="900" b="1">
                <a:solidFill>
                  <a:srgbClr val="10B981"/>
                </a:solidFill>
                <a:latin typeface="Meiryo"/>
              </a:rPr>
              <a:t>ハード×果汁
2商品</a:t>
            </a:r>
          </a:p>
        </p:txBody>
      </p:sp>
      <p:sp>
        <p:nvSpPr>
          <p:cNvPr id="16" name="TextBox 15"/>
          <p:cNvSpPr txBox="1"/>
          <p:nvPr/>
        </p:nvSpPr>
        <p:spPr>
          <a:xfrm>
            <a:off x="9144000" y="1280160"/>
            <a:ext cx="1828800" cy="457200"/>
          </a:xfrm>
          <a:prstGeom prst="rect">
            <a:avLst/>
          </a:prstGeom>
          <a:noFill/>
        </p:spPr>
        <p:txBody>
          <a:bodyPr wrap="square">
            <a:spAutoFit/>
          </a:bodyPr>
          <a:lstStyle/>
          <a:p>
            <a:pPr algn="l"/>
            <a:r>
              <a:rPr sz="900" b="1">
                <a:solidFill>
                  <a:srgbClr val="F59E0B"/>
                </a:solidFill>
                <a:latin typeface="Meiryo"/>
              </a:rPr>
              <a:t>ソフト×果汁
10商品</a:t>
            </a:r>
          </a:p>
        </p:txBody>
      </p:sp>
      <p:sp>
        <p:nvSpPr>
          <p:cNvPr id="17" name="TextBox 16"/>
          <p:cNvSpPr txBox="1"/>
          <p:nvPr/>
        </p:nvSpPr>
        <p:spPr>
          <a:xfrm>
            <a:off x="1097280" y="5669280"/>
            <a:ext cx="1828800" cy="457200"/>
          </a:xfrm>
          <a:prstGeom prst="rect">
            <a:avLst/>
          </a:prstGeom>
          <a:noFill/>
        </p:spPr>
        <p:txBody>
          <a:bodyPr wrap="square">
            <a:spAutoFit/>
          </a:bodyPr>
          <a:lstStyle/>
          <a:p>
            <a:pPr algn="l"/>
            <a:r>
              <a:rPr sz="900" b="1">
                <a:solidFill>
                  <a:srgbClr val="EC4899"/>
                </a:solidFill>
                <a:latin typeface="Meiryo"/>
              </a:rPr>
              <a:t>ハード×刺激
5商品</a:t>
            </a:r>
          </a:p>
        </p:txBody>
      </p:sp>
      <p:sp>
        <p:nvSpPr>
          <p:cNvPr id="18" name="TextBox 17"/>
          <p:cNvSpPr txBox="1"/>
          <p:nvPr/>
        </p:nvSpPr>
        <p:spPr>
          <a:xfrm>
            <a:off x="9144000" y="5669280"/>
            <a:ext cx="1828800" cy="457200"/>
          </a:xfrm>
          <a:prstGeom prst="rect">
            <a:avLst/>
          </a:prstGeom>
          <a:noFill/>
        </p:spPr>
        <p:txBody>
          <a:bodyPr wrap="square">
            <a:spAutoFit/>
          </a:bodyPr>
          <a:lstStyle/>
          <a:p>
            <a:pPr algn="l"/>
            <a:r>
              <a:rPr sz="900" b="1">
                <a:solidFill>
                  <a:srgbClr val="8B5CF6"/>
                </a:solidFill>
                <a:latin typeface="Meiryo"/>
              </a:rPr>
              <a:t>ソフト×刺激
10商品</a:t>
            </a:r>
          </a:p>
        </p:txBody>
      </p:sp>
      <p:sp>
        <p:nvSpPr>
          <p:cNvPr id="19" name="Oval 18"/>
          <p:cNvSpPr/>
          <p:nvPr/>
        </p:nvSpPr>
        <p:spPr>
          <a:xfrm>
            <a:off x="2286000" y="1645920"/>
            <a:ext cx="118872" cy="1188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450592" y="1627632"/>
            <a:ext cx="2286000" cy="228600"/>
          </a:xfrm>
          <a:prstGeom prst="rect">
            <a:avLst/>
          </a:prstGeom>
          <a:noFill/>
        </p:spPr>
        <p:txBody>
          <a:bodyPr wrap="square">
            <a:spAutoFit/>
          </a:bodyPr>
          <a:lstStyle/>
          <a:p>
            <a:pPr algn="l"/>
            <a:r>
              <a:rPr sz="800" b="1">
                <a:solidFill>
                  <a:srgbClr val="10B981"/>
                </a:solidFill>
                <a:latin typeface="Meiryo"/>
              </a:rPr>
              <a:t>果汁グミ弾力プラス</a:t>
            </a:r>
          </a:p>
        </p:txBody>
      </p:sp>
      <p:sp>
        <p:nvSpPr>
          <p:cNvPr id="21" name="Oval 20"/>
          <p:cNvSpPr/>
          <p:nvPr/>
        </p:nvSpPr>
        <p:spPr>
          <a:xfrm>
            <a:off x="1828800" y="2377440"/>
            <a:ext cx="118872" cy="1188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993392" y="2359152"/>
            <a:ext cx="2286000" cy="228600"/>
          </a:xfrm>
          <a:prstGeom prst="rect">
            <a:avLst/>
          </a:prstGeom>
          <a:noFill/>
        </p:spPr>
        <p:txBody>
          <a:bodyPr wrap="square">
            <a:spAutoFit/>
          </a:bodyPr>
          <a:lstStyle/>
          <a:p>
            <a:pPr algn="l"/>
            <a:r>
              <a:rPr sz="800" b="1">
                <a:solidFill>
                  <a:srgbClr val="10B981"/>
                </a:solidFill>
                <a:latin typeface="Meiryo"/>
              </a:rPr>
              <a:t>タフグミ グレーピーパンチ</a:t>
            </a:r>
          </a:p>
        </p:txBody>
      </p:sp>
      <p:sp>
        <p:nvSpPr>
          <p:cNvPr id="23" name="Oval 22"/>
          <p:cNvSpPr/>
          <p:nvPr/>
        </p:nvSpPr>
        <p:spPr>
          <a:xfrm>
            <a:off x="6583680" y="137160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48272" y="1353312"/>
            <a:ext cx="2286000" cy="228600"/>
          </a:xfrm>
          <a:prstGeom prst="rect">
            <a:avLst/>
          </a:prstGeom>
          <a:noFill/>
        </p:spPr>
        <p:txBody>
          <a:bodyPr wrap="square">
            <a:spAutoFit/>
          </a:bodyPr>
          <a:lstStyle/>
          <a:p>
            <a:pPr algn="l"/>
            <a:r>
              <a:rPr sz="700" b="1">
                <a:solidFill>
                  <a:srgbClr val="F59E0B"/>
                </a:solidFill>
                <a:latin typeface="Meiryo"/>
              </a:rPr>
              <a:t>とろみ～グミ</a:t>
            </a:r>
          </a:p>
        </p:txBody>
      </p:sp>
      <p:sp>
        <p:nvSpPr>
          <p:cNvPr id="25" name="Oval 24"/>
          <p:cNvSpPr/>
          <p:nvPr/>
        </p:nvSpPr>
        <p:spPr>
          <a:xfrm>
            <a:off x="6858000" y="164592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22592" y="1627632"/>
            <a:ext cx="2286000" cy="228600"/>
          </a:xfrm>
          <a:prstGeom prst="rect">
            <a:avLst/>
          </a:prstGeom>
          <a:noFill/>
        </p:spPr>
        <p:txBody>
          <a:bodyPr wrap="square">
            <a:spAutoFit/>
          </a:bodyPr>
          <a:lstStyle/>
          <a:p>
            <a:pPr algn="l"/>
            <a:r>
              <a:rPr sz="700" b="1">
                <a:solidFill>
                  <a:srgbClr val="F59E0B"/>
                </a:solidFill>
                <a:latin typeface="Meiryo"/>
              </a:rPr>
              <a:t>つぶグミPREMIUM濃厚いちご</a:t>
            </a:r>
          </a:p>
        </p:txBody>
      </p:sp>
      <p:sp>
        <p:nvSpPr>
          <p:cNvPr id="27" name="Oval 26"/>
          <p:cNvSpPr/>
          <p:nvPr/>
        </p:nvSpPr>
        <p:spPr>
          <a:xfrm>
            <a:off x="8686800" y="137160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51392" y="1353312"/>
            <a:ext cx="2286000" cy="228600"/>
          </a:xfrm>
          <a:prstGeom prst="rect">
            <a:avLst/>
          </a:prstGeom>
          <a:noFill/>
        </p:spPr>
        <p:txBody>
          <a:bodyPr wrap="square">
            <a:spAutoFit/>
          </a:bodyPr>
          <a:lstStyle/>
          <a:p>
            <a:pPr algn="l"/>
            <a:r>
              <a:rPr sz="700" b="1">
                <a:solidFill>
                  <a:srgbClr val="F59E0B"/>
                </a:solidFill>
                <a:latin typeface="Meiryo"/>
              </a:rPr>
              <a:t>つぶグミPREMIUM濃厚梨</a:t>
            </a:r>
          </a:p>
        </p:txBody>
      </p:sp>
      <p:sp>
        <p:nvSpPr>
          <p:cNvPr id="29" name="Oval 28"/>
          <p:cNvSpPr/>
          <p:nvPr/>
        </p:nvSpPr>
        <p:spPr>
          <a:xfrm>
            <a:off x="7315200" y="192024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1901952"/>
            <a:ext cx="2286000" cy="228600"/>
          </a:xfrm>
          <a:prstGeom prst="rect">
            <a:avLst/>
          </a:prstGeom>
          <a:noFill/>
        </p:spPr>
        <p:txBody>
          <a:bodyPr wrap="square">
            <a:spAutoFit/>
          </a:bodyPr>
          <a:lstStyle/>
          <a:p>
            <a:pPr algn="l"/>
            <a:r>
              <a:rPr sz="700" b="1">
                <a:solidFill>
                  <a:srgbClr val="F59E0B"/>
                </a:solidFill>
                <a:latin typeface="Meiryo"/>
              </a:rPr>
              <a:t>ネクター厳選果実グミ</a:t>
            </a:r>
          </a:p>
        </p:txBody>
      </p:sp>
      <p:sp>
        <p:nvSpPr>
          <p:cNvPr id="31" name="Oval 30"/>
          <p:cNvSpPr/>
          <p:nvPr/>
        </p:nvSpPr>
        <p:spPr>
          <a:xfrm>
            <a:off x="8229600" y="219456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94192" y="2176272"/>
            <a:ext cx="2286000" cy="228600"/>
          </a:xfrm>
          <a:prstGeom prst="rect">
            <a:avLst/>
          </a:prstGeom>
          <a:noFill/>
        </p:spPr>
        <p:txBody>
          <a:bodyPr wrap="square">
            <a:spAutoFit/>
          </a:bodyPr>
          <a:lstStyle/>
          <a:p>
            <a:pPr algn="l"/>
            <a:r>
              <a:rPr sz="700" b="1">
                <a:solidFill>
                  <a:srgbClr val="F59E0B"/>
                </a:solidFill>
                <a:latin typeface="Meiryo"/>
              </a:rPr>
              <a:t>おとうふくん</a:t>
            </a:r>
          </a:p>
        </p:txBody>
      </p:sp>
      <p:sp>
        <p:nvSpPr>
          <p:cNvPr id="33" name="Oval 32"/>
          <p:cNvSpPr/>
          <p:nvPr/>
        </p:nvSpPr>
        <p:spPr>
          <a:xfrm>
            <a:off x="6400800" y="246888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65392" y="2450592"/>
            <a:ext cx="2286000" cy="228600"/>
          </a:xfrm>
          <a:prstGeom prst="rect">
            <a:avLst/>
          </a:prstGeom>
          <a:noFill/>
        </p:spPr>
        <p:txBody>
          <a:bodyPr wrap="square">
            <a:spAutoFit/>
          </a:bodyPr>
          <a:lstStyle/>
          <a:p>
            <a:pPr algn="l"/>
            <a:r>
              <a:rPr sz="700" b="1">
                <a:solidFill>
                  <a:srgbClr val="F59E0B"/>
                </a:solidFill>
                <a:latin typeface="Meiryo"/>
              </a:rPr>
              <a:t>ピックミーピーチ</a:t>
            </a:r>
          </a:p>
        </p:txBody>
      </p:sp>
      <p:sp>
        <p:nvSpPr>
          <p:cNvPr id="35" name="Oval 34"/>
          <p:cNvSpPr/>
          <p:nvPr/>
        </p:nvSpPr>
        <p:spPr>
          <a:xfrm>
            <a:off x="8412480" y="256032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577072" y="2542032"/>
            <a:ext cx="2286000" cy="228600"/>
          </a:xfrm>
          <a:prstGeom prst="rect">
            <a:avLst/>
          </a:prstGeom>
          <a:noFill/>
        </p:spPr>
        <p:txBody>
          <a:bodyPr wrap="square">
            <a:spAutoFit/>
          </a:bodyPr>
          <a:lstStyle/>
          <a:p>
            <a:pPr algn="l"/>
            <a:r>
              <a:rPr sz="700" b="1">
                <a:solidFill>
                  <a:srgbClr val="F59E0B"/>
                </a:solidFill>
                <a:latin typeface="Meiryo"/>
              </a:rPr>
              <a:t>もちゅグミ</a:t>
            </a:r>
          </a:p>
        </p:txBody>
      </p:sp>
      <p:sp>
        <p:nvSpPr>
          <p:cNvPr id="37" name="Oval 36"/>
          <p:cNvSpPr/>
          <p:nvPr/>
        </p:nvSpPr>
        <p:spPr>
          <a:xfrm>
            <a:off x="7772400" y="292608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936992" y="2907792"/>
            <a:ext cx="2286000" cy="228600"/>
          </a:xfrm>
          <a:prstGeom prst="rect">
            <a:avLst/>
          </a:prstGeom>
          <a:noFill/>
        </p:spPr>
        <p:txBody>
          <a:bodyPr wrap="square">
            <a:spAutoFit/>
          </a:bodyPr>
          <a:lstStyle/>
          <a:p>
            <a:pPr algn="l"/>
            <a:r>
              <a:rPr sz="700" b="1">
                <a:solidFill>
                  <a:srgbClr val="F59E0B"/>
                </a:solidFill>
                <a:latin typeface="Meiryo"/>
              </a:rPr>
              <a:t>4Dグミ各種</a:t>
            </a:r>
          </a:p>
        </p:txBody>
      </p:sp>
      <p:sp>
        <p:nvSpPr>
          <p:cNvPr id="39" name="Oval 38"/>
          <p:cNvSpPr/>
          <p:nvPr/>
        </p:nvSpPr>
        <p:spPr>
          <a:xfrm>
            <a:off x="6675120" y="2834640"/>
            <a:ext cx="118872" cy="118872"/>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839712" y="2816352"/>
            <a:ext cx="2286000" cy="228600"/>
          </a:xfrm>
          <a:prstGeom prst="rect">
            <a:avLst/>
          </a:prstGeom>
          <a:noFill/>
        </p:spPr>
        <p:txBody>
          <a:bodyPr wrap="square">
            <a:spAutoFit/>
          </a:bodyPr>
          <a:lstStyle/>
          <a:p>
            <a:pPr algn="l"/>
            <a:r>
              <a:rPr sz="700" b="1">
                <a:solidFill>
                  <a:srgbClr val="F59E0B"/>
                </a:solidFill>
                <a:latin typeface="Meiryo"/>
              </a:rPr>
              <a:t>むちもっちバナナ</a:t>
            </a:r>
          </a:p>
        </p:txBody>
      </p:sp>
      <p:sp>
        <p:nvSpPr>
          <p:cNvPr id="41" name="Oval 40"/>
          <p:cNvSpPr/>
          <p:nvPr/>
        </p:nvSpPr>
        <p:spPr>
          <a:xfrm>
            <a:off x="8961120" y="3108960"/>
            <a:ext cx="118872" cy="118872"/>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25712" y="3090672"/>
            <a:ext cx="2286000" cy="228600"/>
          </a:xfrm>
          <a:prstGeom prst="rect">
            <a:avLst/>
          </a:prstGeom>
          <a:noFill/>
        </p:spPr>
        <p:txBody>
          <a:bodyPr wrap="square">
            <a:spAutoFit/>
          </a:bodyPr>
          <a:lstStyle/>
          <a:p>
            <a:pPr algn="l"/>
            <a:r>
              <a:rPr sz="700" b="1">
                <a:solidFill>
                  <a:srgbClr val="94A3B8"/>
                </a:solidFill>
                <a:latin typeface="Meiryo"/>
              </a:rPr>
              <a:t>ピュアラルグミ(既)</a:t>
            </a:r>
          </a:p>
        </p:txBody>
      </p:sp>
      <p:sp>
        <p:nvSpPr>
          <p:cNvPr id="43" name="Oval 42"/>
          <p:cNvSpPr/>
          <p:nvPr/>
        </p:nvSpPr>
        <p:spPr>
          <a:xfrm>
            <a:off x="1828800" y="3931920"/>
            <a:ext cx="118872" cy="11887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993392" y="3913632"/>
            <a:ext cx="2286000" cy="228600"/>
          </a:xfrm>
          <a:prstGeom prst="rect">
            <a:avLst/>
          </a:prstGeom>
          <a:noFill/>
        </p:spPr>
        <p:txBody>
          <a:bodyPr wrap="square">
            <a:spAutoFit/>
          </a:bodyPr>
          <a:lstStyle/>
          <a:p>
            <a:pPr algn="l"/>
            <a:r>
              <a:rPr sz="800" b="1">
                <a:solidFill>
                  <a:srgbClr val="EC4899"/>
                </a:solidFill>
                <a:latin typeface="Meiryo"/>
              </a:rPr>
              <a:t>KAZITTE!</a:t>
            </a:r>
          </a:p>
        </p:txBody>
      </p:sp>
      <p:sp>
        <p:nvSpPr>
          <p:cNvPr id="45" name="Oval 44"/>
          <p:cNvSpPr/>
          <p:nvPr/>
        </p:nvSpPr>
        <p:spPr>
          <a:xfrm>
            <a:off x="2103120" y="4389120"/>
            <a:ext cx="118872" cy="11887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267712" y="4370832"/>
            <a:ext cx="2286000" cy="228600"/>
          </a:xfrm>
          <a:prstGeom prst="rect">
            <a:avLst/>
          </a:prstGeom>
          <a:noFill/>
        </p:spPr>
        <p:txBody>
          <a:bodyPr wrap="square">
            <a:spAutoFit/>
          </a:bodyPr>
          <a:lstStyle/>
          <a:p>
            <a:pPr algn="l"/>
            <a:r>
              <a:rPr sz="700" b="1">
                <a:solidFill>
                  <a:srgbClr val="EC4899"/>
                </a:solidFill>
                <a:latin typeface="Meiryo"/>
              </a:rPr>
              <a:t>忍者めしベイマックス</a:t>
            </a:r>
          </a:p>
        </p:txBody>
      </p:sp>
      <p:sp>
        <p:nvSpPr>
          <p:cNvPr id="47" name="Oval 46"/>
          <p:cNvSpPr/>
          <p:nvPr/>
        </p:nvSpPr>
        <p:spPr>
          <a:xfrm>
            <a:off x="1645920" y="4846320"/>
            <a:ext cx="118872" cy="11887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810512" y="4828032"/>
            <a:ext cx="2286000" cy="228600"/>
          </a:xfrm>
          <a:prstGeom prst="rect">
            <a:avLst/>
          </a:prstGeom>
          <a:noFill/>
        </p:spPr>
        <p:txBody>
          <a:bodyPr wrap="square">
            <a:spAutoFit/>
          </a:bodyPr>
          <a:lstStyle/>
          <a:p>
            <a:pPr algn="l"/>
            <a:r>
              <a:rPr sz="700" b="1">
                <a:solidFill>
                  <a:srgbClr val="EC4899"/>
                </a:solidFill>
                <a:latin typeface="Meiryo"/>
              </a:rPr>
              <a:t>タフグミ グレフルフィーバー</a:t>
            </a:r>
          </a:p>
        </p:txBody>
      </p:sp>
      <p:sp>
        <p:nvSpPr>
          <p:cNvPr id="49" name="Oval 48"/>
          <p:cNvSpPr/>
          <p:nvPr/>
        </p:nvSpPr>
        <p:spPr>
          <a:xfrm>
            <a:off x="2286000" y="5303520"/>
            <a:ext cx="118872" cy="118872"/>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450592" y="5285232"/>
            <a:ext cx="2286000" cy="228600"/>
          </a:xfrm>
          <a:prstGeom prst="rect">
            <a:avLst/>
          </a:prstGeom>
          <a:noFill/>
        </p:spPr>
        <p:txBody>
          <a:bodyPr wrap="square">
            <a:spAutoFit/>
          </a:bodyPr>
          <a:lstStyle/>
          <a:p>
            <a:pPr algn="l"/>
            <a:r>
              <a:rPr sz="700" b="1">
                <a:solidFill>
                  <a:srgbClr val="94A3B8"/>
                </a:solidFill>
                <a:latin typeface="Meiryo"/>
              </a:rPr>
              <a:t>コーラアップ ザハード(既)</a:t>
            </a:r>
          </a:p>
        </p:txBody>
      </p:sp>
      <p:sp>
        <p:nvSpPr>
          <p:cNvPr id="51" name="Oval 50"/>
          <p:cNvSpPr/>
          <p:nvPr/>
        </p:nvSpPr>
        <p:spPr>
          <a:xfrm>
            <a:off x="3200400" y="5486400"/>
            <a:ext cx="118872" cy="118872"/>
          </a:xfrm>
          <a:prstGeom prst="ellipse">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364992" y="5468112"/>
            <a:ext cx="2286000" cy="228600"/>
          </a:xfrm>
          <a:prstGeom prst="rect">
            <a:avLst/>
          </a:prstGeom>
          <a:noFill/>
        </p:spPr>
        <p:txBody>
          <a:bodyPr wrap="square">
            <a:spAutoFit/>
          </a:bodyPr>
          <a:lstStyle/>
          <a:p>
            <a:pPr algn="l"/>
            <a:r>
              <a:rPr sz="700" b="1">
                <a:solidFill>
                  <a:srgbClr val="EC4899"/>
                </a:solidFill>
                <a:latin typeface="Meiryo"/>
              </a:rPr>
              <a:t>小梅グミ</a:t>
            </a:r>
          </a:p>
        </p:txBody>
      </p:sp>
      <p:sp>
        <p:nvSpPr>
          <p:cNvPr id="53" name="Oval 52"/>
          <p:cNvSpPr/>
          <p:nvPr/>
        </p:nvSpPr>
        <p:spPr>
          <a:xfrm>
            <a:off x="2743200" y="5760720"/>
            <a:ext cx="118872" cy="118872"/>
          </a:xfrm>
          <a:prstGeom prst="ellipse">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2907792" y="5742432"/>
            <a:ext cx="2286000" cy="228600"/>
          </a:xfrm>
          <a:prstGeom prst="rect">
            <a:avLst/>
          </a:prstGeom>
          <a:noFill/>
        </p:spPr>
        <p:txBody>
          <a:bodyPr wrap="square">
            <a:spAutoFit/>
          </a:bodyPr>
          <a:lstStyle/>
          <a:p>
            <a:pPr algn="l"/>
            <a:r>
              <a:rPr sz="700" b="1">
                <a:solidFill>
                  <a:srgbClr val="94A3B8"/>
                </a:solidFill>
                <a:latin typeface="Meiryo"/>
              </a:rPr>
              <a:t>タフグミPRO(既)</a:t>
            </a:r>
          </a:p>
        </p:txBody>
      </p:sp>
      <p:sp>
        <p:nvSpPr>
          <p:cNvPr id="55" name="Oval 54"/>
          <p:cNvSpPr/>
          <p:nvPr/>
        </p:nvSpPr>
        <p:spPr>
          <a:xfrm>
            <a:off x="7772400" y="438912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7936992" y="4370832"/>
            <a:ext cx="2286000" cy="228600"/>
          </a:xfrm>
          <a:prstGeom prst="rect">
            <a:avLst/>
          </a:prstGeom>
          <a:noFill/>
        </p:spPr>
        <p:txBody>
          <a:bodyPr wrap="square">
            <a:spAutoFit/>
          </a:bodyPr>
          <a:lstStyle/>
          <a:p>
            <a:pPr algn="l"/>
            <a:r>
              <a:rPr sz="700" b="1">
                <a:solidFill>
                  <a:srgbClr val="8B5CF6"/>
                </a:solidFill>
                <a:latin typeface="Meiryo"/>
              </a:rPr>
              <a:t>しゃりinグミ</a:t>
            </a:r>
          </a:p>
        </p:txBody>
      </p:sp>
      <p:sp>
        <p:nvSpPr>
          <p:cNvPr id="57" name="Oval 56"/>
          <p:cNvSpPr/>
          <p:nvPr/>
        </p:nvSpPr>
        <p:spPr>
          <a:xfrm>
            <a:off x="6400800" y="475488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565392" y="4736592"/>
            <a:ext cx="2286000" cy="228600"/>
          </a:xfrm>
          <a:prstGeom prst="rect">
            <a:avLst/>
          </a:prstGeom>
          <a:noFill/>
        </p:spPr>
        <p:txBody>
          <a:bodyPr wrap="square">
            <a:spAutoFit/>
          </a:bodyPr>
          <a:lstStyle/>
          <a:p>
            <a:pPr algn="l"/>
            <a:r>
              <a:rPr sz="700" b="1">
                <a:solidFill>
                  <a:srgbClr val="8B5CF6"/>
                </a:solidFill>
                <a:latin typeface="Meiryo"/>
              </a:rPr>
              <a:t>ざくふにゅグミ</a:t>
            </a:r>
          </a:p>
        </p:txBody>
      </p:sp>
      <p:sp>
        <p:nvSpPr>
          <p:cNvPr id="59" name="Oval 58"/>
          <p:cNvSpPr/>
          <p:nvPr/>
        </p:nvSpPr>
        <p:spPr>
          <a:xfrm>
            <a:off x="8229600" y="393192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94192" y="3913632"/>
            <a:ext cx="2286000" cy="228600"/>
          </a:xfrm>
          <a:prstGeom prst="rect">
            <a:avLst/>
          </a:prstGeom>
          <a:noFill/>
        </p:spPr>
        <p:txBody>
          <a:bodyPr wrap="square">
            <a:spAutoFit/>
          </a:bodyPr>
          <a:lstStyle/>
          <a:p>
            <a:pPr algn="l"/>
            <a:r>
              <a:rPr sz="700" b="1">
                <a:solidFill>
                  <a:srgbClr val="8B5CF6"/>
                </a:solidFill>
                <a:latin typeface="Meiryo"/>
              </a:rPr>
              <a:t>Gumidy グミinキャンディ</a:t>
            </a:r>
          </a:p>
        </p:txBody>
      </p:sp>
      <p:sp>
        <p:nvSpPr>
          <p:cNvPr id="61" name="Oval 60"/>
          <p:cNvSpPr/>
          <p:nvPr/>
        </p:nvSpPr>
        <p:spPr>
          <a:xfrm>
            <a:off x="6858000" y="502920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022592" y="5010912"/>
            <a:ext cx="2286000" cy="228600"/>
          </a:xfrm>
          <a:prstGeom prst="rect">
            <a:avLst/>
          </a:prstGeom>
          <a:noFill/>
        </p:spPr>
        <p:txBody>
          <a:bodyPr wrap="square">
            <a:spAutoFit/>
          </a:bodyPr>
          <a:lstStyle/>
          <a:p>
            <a:pPr algn="l"/>
            <a:r>
              <a:rPr sz="700" b="1">
                <a:solidFill>
                  <a:srgbClr val="8B5CF6"/>
                </a:solidFill>
                <a:latin typeface="Meiryo"/>
              </a:rPr>
              <a:t>シークラゲグミ</a:t>
            </a:r>
          </a:p>
        </p:txBody>
      </p:sp>
      <p:sp>
        <p:nvSpPr>
          <p:cNvPr id="63" name="Oval 62"/>
          <p:cNvSpPr/>
          <p:nvPr/>
        </p:nvSpPr>
        <p:spPr>
          <a:xfrm>
            <a:off x="8046720" y="457200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11312" y="4553712"/>
            <a:ext cx="2286000" cy="228600"/>
          </a:xfrm>
          <a:prstGeom prst="rect">
            <a:avLst/>
          </a:prstGeom>
          <a:noFill/>
        </p:spPr>
        <p:txBody>
          <a:bodyPr wrap="square">
            <a:spAutoFit/>
          </a:bodyPr>
          <a:lstStyle/>
          <a:p>
            <a:pPr algn="l"/>
            <a:r>
              <a:rPr sz="700" b="1">
                <a:solidFill>
                  <a:srgbClr val="8B5CF6"/>
                </a:solidFill>
                <a:latin typeface="Meiryo"/>
              </a:rPr>
              <a:t>トッピンポップグミ</a:t>
            </a:r>
          </a:p>
        </p:txBody>
      </p:sp>
      <p:sp>
        <p:nvSpPr>
          <p:cNvPr id="65" name="Oval 64"/>
          <p:cNvSpPr/>
          <p:nvPr/>
        </p:nvSpPr>
        <p:spPr>
          <a:xfrm>
            <a:off x="8686800" y="502920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851392" y="5010912"/>
            <a:ext cx="2286000" cy="228600"/>
          </a:xfrm>
          <a:prstGeom prst="rect">
            <a:avLst/>
          </a:prstGeom>
          <a:noFill/>
        </p:spPr>
        <p:txBody>
          <a:bodyPr wrap="square">
            <a:spAutoFit/>
          </a:bodyPr>
          <a:lstStyle/>
          <a:p>
            <a:pPr algn="l"/>
            <a:r>
              <a:rPr sz="700" b="1">
                <a:solidFill>
                  <a:srgbClr val="8B5CF6"/>
                </a:solidFill>
                <a:latin typeface="Meiryo"/>
              </a:rPr>
              <a:t>チョコがけミント</a:t>
            </a:r>
          </a:p>
        </p:txBody>
      </p:sp>
      <p:sp>
        <p:nvSpPr>
          <p:cNvPr id="67" name="Oval 66"/>
          <p:cNvSpPr/>
          <p:nvPr/>
        </p:nvSpPr>
        <p:spPr>
          <a:xfrm>
            <a:off x="6400800" y="530352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565392" y="5285232"/>
            <a:ext cx="2286000" cy="228600"/>
          </a:xfrm>
          <a:prstGeom prst="rect">
            <a:avLst/>
          </a:prstGeom>
          <a:noFill/>
        </p:spPr>
        <p:txBody>
          <a:bodyPr wrap="square">
            <a:spAutoFit/>
          </a:bodyPr>
          <a:lstStyle/>
          <a:p>
            <a:pPr algn="l"/>
            <a:r>
              <a:rPr sz="700" b="1">
                <a:solidFill>
                  <a:srgbClr val="8B5CF6"/>
                </a:solidFill>
                <a:latin typeface="Meiryo"/>
              </a:rPr>
              <a:t>エッセルスーパーカップ味</a:t>
            </a:r>
          </a:p>
        </p:txBody>
      </p:sp>
      <p:sp>
        <p:nvSpPr>
          <p:cNvPr id="69" name="Oval 68"/>
          <p:cNvSpPr/>
          <p:nvPr/>
        </p:nvSpPr>
        <p:spPr>
          <a:xfrm>
            <a:off x="8412480" y="548640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577072" y="5468112"/>
            <a:ext cx="2286000" cy="228600"/>
          </a:xfrm>
          <a:prstGeom prst="rect">
            <a:avLst/>
          </a:prstGeom>
          <a:noFill/>
        </p:spPr>
        <p:txBody>
          <a:bodyPr wrap="square">
            <a:spAutoFit/>
          </a:bodyPr>
          <a:lstStyle/>
          <a:p>
            <a:pPr algn="l"/>
            <a:r>
              <a:rPr sz="700" b="1">
                <a:solidFill>
                  <a:srgbClr val="8B5CF6"/>
                </a:solidFill>
                <a:latin typeface="Meiryo"/>
              </a:rPr>
              <a:t>もちっとグミチョコ</a:t>
            </a:r>
          </a:p>
        </p:txBody>
      </p:sp>
      <p:sp>
        <p:nvSpPr>
          <p:cNvPr id="71" name="Oval 70"/>
          <p:cNvSpPr/>
          <p:nvPr/>
        </p:nvSpPr>
        <p:spPr>
          <a:xfrm>
            <a:off x="6858000" y="411480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7022592" y="4096512"/>
            <a:ext cx="2286000" cy="228600"/>
          </a:xfrm>
          <a:prstGeom prst="rect">
            <a:avLst/>
          </a:prstGeom>
          <a:noFill/>
        </p:spPr>
        <p:txBody>
          <a:bodyPr wrap="square">
            <a:spAutoFit/>
          </a:bodyPr>
          <a:lstStyle/>
          <a:p>
            <a:pPr algn="l"/>
            <a:r>
              <a:rPr sz="700" b="1">
                <a:solidFill>
                  <a:srgbClr val="8B5CF6"/>
                </a:solidFill>
                <a:latin typeface="Meiryo"/>
              </a:rPr>
              <a:t>しらたまるグミ梅味</a:t>
            </a:r>
          </a:p>
        </p:txBody>
      </p:sp>
      <p:sp>
        <p:nvSpPr>
          <p:cNvPr id="73" name="Oval 72"/>
          <p:cNvSpPr/>
          <p:nvPr/>
        </p:nvSpPr>
        <p:spPr>
          <a:xfrm>
            <a:off x="8961120" y="5669280"/>
            <a:ext cx="118872" cy="118872"/>
          </a:xfrm>
          <a:prstGeom prst="ellipse">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9125712" y="5650992"/>
            <a:ext cx="2286000" cy="228600"/>
          </a:xfrm>
          <a:prstGeom prst="rect">
            <a:avLst/>
          </a:prstGeom>
          <a:noFill/>
        </p:spPr>
        <p:txBody>
          <a:bodyPr wrap="square">
            <a:spAutoFit/>
          </a:bodyPr>
          <a:lstStyle/>
          <a:p>
            <a:pPr algn="l"/>
            <a:r>
              <a:rPr sz="700" b="1">
                <a:solidFill>
                  <a:srgbClr val="8B5CF6"/>
                </a:solidFill>
                <a:latin typeface="Meiryo"/>
              </a:rPr>
              <a:t>4Dグミ悪魔の実</a:t>
            </a:r>
          </a:p>
        </p:txBody>
      </p:sp>
      <p:sp>
        <p:nvSpPr>
          <p:cNvPr id="75" name="TextBox 74"/>
          <p:cNvSpPr txBox="1"/>
          <p:nvPr/>
        </p:nvSpPr>
        <p:spPr>
          <a:xfrm>
            <a:off x="3200400" y="6400800"/>
            <a:ext cx="5486400" cy="274320"/>
          </a:xfrm>
          <a:prstGeom prst="rect">
            <a:avLst/>
          </a:prstGeom>
          <a:noFill/>
        </p:spPr>
        <p:txBody>
          <a:bodyPr wrap="square">
            <a:spAutoFit/>
          </a:bodyPr>
          <a:lstStyle/>
          <a:p>
            <a:pPr algn="ctr"/>
            <a:r>
              <a:rPr sz="900" b="0">
                <a:solidFill>
                  <a:srgbClr val="94A3B8"/>
                </a:solidFill>
                <a:latin typeface="Meiryo"/>
              </a:rPr>
              <a:t>★ = 新商品（2023-2026）　　○ = 既存/リニューアル</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005840"/>
            <a:ext cx="12188952"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640080"/>
          </a:xfrm>
          <a:prstGeom prst="rect">
            <a:avLst/>
          </a:prstGeom>
          <a:noFill/>
        </p:spPr>
        <p:txBody>
          <a:bodyPr wrap="square">
            <a:spAutoFit/>
          </a:bodyPr>
          <a:lstStyle/>
          <a:p>
            <a:pPr algn="l"/>
            <a:r>
              <a:rPr sz="2200" b="1">
                <a:solidFill>
                  <a:srgbClr val="1B2A4A"/>
                </a:solidFill>
                <a:latin typeface="Meiryo"/>
              </a:rPr>
              <a:t>象限別の集計</a:t>
            </a:r>
          </a:p>
        </p:txBody>
      </p:sp>
      <p:sp>
        <p:nvSpPr>
          <p:cNvPr id="5" name="Rounded Rectangle 4"/>
          <p:cNvSpPr/>
          <p:nvPr/>
        </p:nvSpPr>
        <p:spPr>
          <a:xfrm>
            <a:off x="548640" y="1188720"/>
            <a:ext cx="5303520" cy="228600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325880"/>
            <a:ext cx="3657600" cy="365760"/>
          </a:xfrm>
          <a:prstGeom prst="rect">
            <a:avLst/>
          </a:prstGeom>
          <a:noFill/>
        </p:spPr>
        <p:txBody>
          <a:bodyPr wrap="square">
            <a:spAutoFit/>
          </a:bodyPr>
          <a:lstStyle/>
          <a:p>
            <a:pPr algn="l"/>
            <a:r>
              <a:rPr sz="1400" b="1">
                <a:solidFill>
                  <a:srgbClr val="10B981"/>
                </a:solidFill>
                <a:latin typeface="Meiryo"/>
              </a:rPr>
              <a:t>左上：ハード × 果汁</a:t>
            </a:r>
          </a:p>
        </p:txBody>
      </p:sp>
      <p:sp>
        <p:nvSpPr>
          <p:cNvPr id="7" name="TextBox 6"/>
          <p:cNvSpPr txBox="1"/>
          <p:nvPr/>
        </p:nvSpPr>
        <p:spPr>
          <a:xfrm>
            <a:off x="4663440" y="1325880"/>
            <a:ext cx="914400" cy="365760"/>
          </a:xfrm>
          <a:prstGeom prst="rect">
            <a:avLst/>
          </a:prstGeom>
          <a:noFill/>
        </p:spPr>
        <p:txBody>
          <a:bodyPr wrap="square">
            <a:spAutoFit/>
          </a:bodyPr>
          <a:lstStyle/>
          <a:p>
            <a:pPr algn="r"/>
            <a:r>
              <a:rPr sz="1800" b="1">
                <a:solidFill>
                  <a:srgbClr val="10B981"/>
                </a:solidFill>
                <a:latin typeface="Meiryo"/>
              </a:rPr>
              <a:t>2商品</a:t>
            </a:r>
          </a:p>
        </p:txBody>
      </p:sp>
      <p:sp>
        <p:nvSpPr>
          <p:cNvPr id="8" name="TextBox 7"/>
          <p:cNvSpPr txBox="1"/>
          <p:nvPr/>
        </p:nvSpPr>
        <p:spPr>
          <a:xfrm>
            <a:off x="822960" y="1828800"/>
            <a:ext cx="4754880" cy="1554480"/>
          </a:xfrm>
          <a:prstGeom prst="rect">
            <a:avLst/>
          </a:prstGeom>
          <a:noFill/>
        </p:spPr>
        <p:txBody>
          <a:bodyPr wrap="square">
            <a:spAutoFit/>
          </a:bodyPr>
          <a:lstStyle/>
          <a:p>
            <a:pPr>
              <a:spcAft>
                <a:spcPts val="300"/>
              </a:spcAft>
            </a:pPr>
            <a:r>
              <a:rPr sz="1000">
                <a:solidFill>
                  <a:srgbClr val="475569"/>
                </a:solidFill>
                <a:latin typeface="Meiryo"/>
              </a:rPr>
              <a:t>果汁グミ弾力プラス（明治）</a:t>
            </a:r>
          </a:p>
          <a:p>
            <a:pPr>
              <a:spcAft>
                <a:spcPts val="300"/>
              </a:spcAft>
            </a:pPr>
            <a:r>
              <a:rPr sz="1000">
                <a:solidFill>
                  <a:srgbClr val="475569"/>
                </a:solidFill>
                <a:latin typeface="Meiryo"/>
              </a:rPr>
              <a:t>タフグミ グレーピーパンチ（カバヤ）</a:t>
            </a:r>
          </a:p>
          <a:p>
            <a:pPr>
              <a:spcAft>
                <a:spcPts val="300"/>
              </a:spcAft>
            </a:pPr>
            <a:r>
              <a:rPr sz="1000">
                <a:solidFill>
                  <a:srgbClr val="475569"/>
                </a:solidFill>
                <a:latin typeface="Meiryo"/>
              </a:rPr>
              <a:t/>
            </a:r>
          </a:p>
          <a:p>
            <a:pPr>
              <a:spcAft>
                <a:spcPts val="300"/>
              </a:spcAft>
            </a:pPr>
            <a:r>
              <a:rPr sz="1000">
                <a:solidFill>
                  <a:srgbClr val="475569"/>
                </a:solidFill>
                <a:latin typeface="Meiryo"/>
              </a:rPr>
              <a:t>→ 比較的空白地帯。新商品開発の余地あり</a:t>
            </a:r>
          </a:p>
        </p:txBody>
      </p:sp>
      <p:sp>
        <p:nvSpPr>
          <p:cNvPr id="9" name="Rounded Rectangle 8"/>
          <p:cNvSpPr/>
          <p:nvPr/>
        </p:nvSpPr>
        <p:spPr>
          <a:xfrm>
            <a:off x="6217920" y="1188720"/>
            <a:ext cx="5303520" cy="2286000"/>
          </a:xfrm>
          <a:prstGeom prst="roundRect">
            <a:avLst/>
          </a:prstGeom>
          <a:solidFill>
            <a:srgbClr val="FFFBEB"/>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325880"/>
            <a:ext cx="3657600" cy="365760"/>
          </a:xfrm>
          <a:prstGeom prst="rect">
            <a:avLst/>
          </a:prstGeom>
          <a:noFill/>
        </p:spPr>
        <p:txBody>
          <a:bodyPr wrap="square">
            <a:spAutoFit/>
          </a:bodyPr>
          <a:lstStyle/>
          <a:p>
            <a:pPr algn="l"/>
            <a:r>
              <a:rPr sz="1400" b="1">
                <a:solidFill>
                  <a:srgbClr val="F59E0B"/>
                </a:solidFill>
                <a:latin typeface="Meiryo"/>
              </a:rPr>
              <a:t>右上：ソフト × 果汁</a:t>
            </a:r>
          </a:p>
        </p:txBody>
      </p:sp>
      <p:sp>
        <p:nvSpPr>
          <p:cNvPr id="11" name="TextBox 10"/>
          <p:cNvSpPr txBox="1"/>
          <p:nvPr/>
        </p:nvSpPr>
        <p:spPr>
          <a:xfrm>
            <a:off x="10332720" y="1325880"/>
            <a:ext cx="914400" cy="365760"/>
          </a:xfrm>
          <a:prstGeom prst="rect">
            <a:avLst/>
          </a:prstGeom>
          <a:noFill/>
        </p:spPr>
        <p:txBody>
          <a:bodyPr wrap="square">
            <a:spAutoFit/>
          </a:bodyPr>
          <a:lstStyle/>
          <a:p>
            <a:pPr algn="r"/>
            <a:r>
              <a:rPr sz="1800" b="1">
                <a:solidFill>
                  <a:srgbClr val="F59E0B"/>
                </a:solidFill>
                <a:latin typeface="Meiryo"/>
              </a:rPr>
              <a:t>10商品</a:t>
            </a:r>
          </a:p>
        </p:txBody>
      </p:sp>
      <p:sp>
        <p:nvSpPr>
          <p:cNvPr id="12" name="TextBox 11"/>
          <p:cNvSpPr txBox="1"/>
          <p:nvPr/>
        </p:nvSpPr>
        <p:spPr>
          <a:xfrm>
            <a:off x="6492240" y="1828800"/>
            <a:ext cx="4754880" cy="1554480"/>
          </a:xfrm>
          <a:prstGeom prst="rect">
            <a:avLst/>
          </a:prstGeom>
          <a:noFill/>
        </p:spPr>
        <p:txBody>
          <a:bodyPr wrap="square">
            <a:spAutoFit/>
          </a:bodyPr>
          <a:lstStyle/>
          <a:p>
            <a:pPr>
              <a:spcAft>
                <a:spcPts val="300"/>
              </a:spcAft>
            </a:pPr>
            <a:r>
              <a:rPr sz="1000">
                <a:solidFill>
                  <a:srgbClr val="475569"/>
                </a:solidFill>
                <a:latin typeface="Meiryo"/>
              </a:rPr>
              <a:t>とろみ～グミ（カンロ）、つぶグミPREMIUM各種</a:t>
            </a:r>
          </a:p>
          <a:p>
            <a:pPr>
              <a:spcAft>
                <a:spcPts val="300"/>
              </a:spcAft>
            </a:pPr>
            <a:r>
              <a:rPr sz="1000">
                <a:solidFill>
                  <a:srgbClr val="475569"/>
                </a:solidFill>
                <a:latin typeface="Meiryo"/>
              </a:rPr>
              <a:t>ネクター厳選果実グミ（不二家）</a:t>
            </a:r>
          </a:p>
          <a:p>
            <a:pPr>
              <a:spcAft>
                <a:spcPts val="300"/>
              </a:spcAft>
            </a:pPr>
            <a:r>
              <a:rPr sz="1000">
                <a:solidFill>
                  <a:srgbClr val="475569"/>
                </a:solidFill>
                <a:latin typeface="Meiryo"/>
              </a:rPr>
              <a:t>おとうふくん（カバヤ）、もちゅグミ、4Dグミ各種</a:t>
            </a:r>
          </a:p>
          <a:p>
            <a:pPr>
              <a:spcAft>
                <a:spcPts val="300"/>
              </a:spcAft>
            </a:pPr>
            <a:r>
              <a:rPr sz="1000">
                <a:solidFill>
                  <a:srgbClr val="475569"/>
                </a:solidFill>
                <a:latin typeface="Meiryo"/>
              </a:rPr>
              <a:t>→ 最多タイ。ソフト+ナチュラルの組み合わせが人気</a:t>
            </a:r>
          </a:p>
        </p:txBody>
      </p:sp>
      <p:sp>
        <p:nvSpPr>
          <p:cNvPr id="13" name="Rounded Rectangle 12"/>
          <p:cNvSpPr/>
          <p:nvPr/>
        </p:nvSpPr>
        <p:spPr>
          <a:xfrm>
            <a:off x="548640" y="3840480"/>
            <a:ext cx="5303520" cy="2286000"/>
          </a:xfrm>
          <a:prstGeom prst="roundRect">
            <a:avLst/>
          </a:prstGeom>
          <a:solidFill>
            <a:srgbClr val="FDF2F8"/>
          </a:solidFill>
          <a:ln w="25400">
            <a:solidFill>
              <a:srgbClr val="EC489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977640"/>
            <a:ext cx="3657600" cy="365760"/>
          </a:xfrm>
          <a:prstGeom prst="rect">
            <a:avLst/>
          </a:prstGeom>
          <a:noFill/>
        </p:spPr>
        <p:txBody>
          <a:bodyPr wrap="square">
            <a:spAutoFit/>
          </a:bodyPr>
          <a:lstStyle/>
          <a:p>
            <a:pPr algn="l"/>
            <a:r>
              <a:rPr sz="1400" b="1">
                <a:solidFill>
                  <a:srgbClr val="EC4899"/>
                </a:solidFill>
                <a:latin typeface="Meiryo"/>
              </a:rPr>
              <a:t>左下：ハード × 刺激</a:t>
            </a:r>
          </a:p>
        </p:txBody>
      </p:sp>
      <p:sp>
        <p:nvSpPr>
          <p:cNvPr id="15" name="TextBox 14"/>
          <p:cNvSpPr txBox="1"/>
          <p:nvPr/>
        </p:nvSpPr>
        <p:spPr>
          <a:xfrm>
            <a:off x="4663440" y="3977640"/>
            <a:ext cx="914400" cy="365760"/>
          </a:xfrm>
          <a:prstGeom prst="rect">
            <a:avLst/>
          </a:prstGeom>
          <a:noFill/>
        </p:spPr>
        <p:txBody>
          <a:bodyPr wrap="square">
            <a:spAutoFit/>
          </a:bodyPr>
          <a:lstStyle/>
          <a:p>
            <a:pPr algn="r"/>
            <a:r>
              <a:rPr sz="1800" b="1">
                <a:solidFill>
                  <a:srgbClr val="EC4899"/>
                </a:solidFill>
                <a:latin typeface="Meiryo"/>
              </a:rPr>
              <a:t>5商品</a:t>
            </a:r>
          </a:p>
        </p:txBody>
      </p:sp>
      <p:sp>
        <p:nvSpPr>
          <p:cNvPr id="16" name="TextBox 15"/>
          <p:cNvSpPr txBox="1"/>
          <p:nvPr/>
        </p:nvSpPr>
        <p:spPr>
          <a:xfrm>
            <a:off x="822960" y="4480560"/>
            <a:ext cx="4754880" cy="1554480"/>
          </a:xfrm>
          <a:prstGeom prst="rect">
            <a:avLst/>
          </a:prstGeom>
          <a:noFill/>
        </p:spPr>
        <p:txBody>
          <a:bodyPr wrap="square">
            <a:spAutoFit/>
          </a:bodyPr>
          <a:lstStyle/>
          <a:p>
            <a:pPr>
              <a:spcAft>
                <a:spcPts val="300"/>
              </a:spcAft>
            </a:pPr>
            <a:r>
              <a:rPr sz="1000">
                <a:solidFill>
                  <a:srgbClr val="475569"/>
                </a:solidFill>
                <a:latin typeface="Meiryo"/>
              </a:rPr>
              <a:t>KAZITTE!（ロッテ）、忍者めしベイマックス（UHA）</a:t>
            </a:r>
          </a:p>
          <a:p>
            <a:pPr>
              <a:spcAft>
                <a:spcPts val="300"/>
              </a:spcAft>
            </a:pPr>
            <a:r>
              <a:rPr sz="1000">
                <a:solidFill>
                  <a:srgbClr val="475569"/>
                </a:solidFill>
                <a:latin typeface="Meiryo"/>
              </a:rPr>
              <a:t>タフグミ グレフルフィーバー（カバヤ）、小梅グミ（ロッテ）</a:t>
            </a:r>
          </a:p>
          <a:p>
            <a:pPr>
              <a:spcAft>
                <a:spcPts val="300"/>
              </a:spcAft>
            </a:pPr>
            <a:r>
              <a:rPr sz="1000">
                <a:solidFill>
                  <a:srgbClr val="475569"/>
                </a:solidFill>
                <a:latin typeface="Meiryo"/>
              </a:rPr>
              <a:t/>
            </a:r>
          </a:p>
          <a:p>
            <a:pPr>
              <a:spcAft>
                <a:spcPts val="300"/>
              </a:spcAft>
            </a:pPr>
            <a:r>
              <a:rPr sz="1000">
                <a:solidFill>
                  <a:srgbClr val="475569"/>
                </a:solidFill>
                <a:latin typeface="Meiryo"/>
              </a:rPr>
              <a:t>→ ハード系の新規参入が2025年に活発化</a:t>
            </a:r>
          </a:p>
        </p:txBody>
      </p:sp>
      <p:sp>
        <p:nvSpPr>
          <p:cNvPr id="17" name="Rounded Rectangle 16"/>
          <p:cNvSpPr/>
          <p:nvPr/>
        </p:nvSpPr>
        <p:spPr>
          <a:xfrm>
            <a:off x="6217920" y="3840480"/>
            <a:ext cx="5303520" cy="2286000"/>
          </a:xfrm>
          <a:prstGeom prst="roundRect">
            <a:avLst/>
          </a:prstGeom>
          <a:solidFill>
            <a:srgbClr val="F5F3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3977640"/>
            <a:ext cx="3657600" cy="365760"/>
          </a:xfrm>
          <a:prstGeom prst="rect">
            <a:avLst/>
          </a:prstGeom>
          <a:noFill/>
        </p:spPr>
        <p:txBody>
          <a:bodyPr wrap="square">
            <a:spAutoFit/>
          </a:bodyPr>
          <a:lstStyle/>
          <a:p>
            <a:pPr algn="l"/>
            <a:r>
              <a:rPr sz="1400" b="1">
                <a:solidFill>
                  <a:srgbClr val="8B5CF6"/>
                </a:solidFill>
                <a:latin typeface="Meiryo"/>
              </a:rPr>
              <a:t>右下：ソフト × 刺激/新食感</a:t>
            </a:r>
          </a:p>
        </p:txBody>
      </p:sp>
      <p:sp>
        <p:nvSpPr>
          <p:cNvPr id="19" name="TextBox 18"/>
          <p:cNvSpPr txBox="1"/>
          <p:nvPr/>
        </p:nvSpPr>
        <p:spPr>
          <a:xfrm>
            <a:off x="10332720" y="3977640"/>
            <a:ext cx="914400" cy="365760"/>
          </a:xfrm>
          <a:prstGeom prst="rect">
            <a:avLst/>
          </a:prstGeom>
          <a:noFill/>
        </p:spPr>
        <p:txBody>
          <a:bodyPr wrap="square">
            <a:spAutoFit/>
          </a:bodyPr>
          <a:lstStyle/>
          <a:p>
            <a:pPr algn="r"/>
            <a:r>
              <a:rPr sz="1800" b="1">
                <a:solidFill>
                  <a:srgbClr val="8B5CF6"/>
                </a:solidFill>
                <a:latin typeface="Meiryo"/>
              </a:rPr>
              <a:t>10商品</a:t>
            </a:r>
          </a:p>
        </p:txBody>
      </p:sp>
      <p:sp>
        <p:nvSpPr>
          <p:cNvPr id="20" name="TextBox 19"/>
          <p:cNvSpPr txBox="1"/>
          <p:nvPr/>
        </p:nvSpPr>
        <p:spPr>
          <a:xfrm>
            <a:off x="6492240" y="4480560"/>
            <a:ext cx="4754880" cy="1554480"/>
          </a:xfrm>
          <a:prstGeom prst="rect">
            <a:avLst/>
          </a:prstGeom>
          <a:noFill/>
        </p:spPr>
        <p:txBody>
          <a:bodyPr wrap="square">
            <a:spAutoFit/>
          </a:bodyPr>
          <a:lstStyle/>
          <a:p>
            <a:pPr>
              <a:spcAft>
                <a:spcPts val="300"/>
              </a:spcAft>
            </a:pPr>
            <a:r>
              <a:rPr sz="1000">
                <a:solidFill>
                  <a:srgbClr val="475569"/>
                </a:solidFill>
                <a:latin typeface="Meiryo"/>
              </a:rPr>
              <a:t>しゃりinグミ（カバヤ）、ざくふにゅグミ、Gumidy</a:t>
            </a:r>
          </a:p>
          <a:p>
            <a:pPr>
              <a:spcAft>
                <a:spcPts val="300"/>
              </a:spcAft>
            </a:pPr>
            <a:r>
              <a:rPr sz="1000">
                <a:solidFill>
                  <a:srgbClr val="475569"/>
                </a:solidFill>
                <a:latin typeface="Meiryo"/>
              </a:rPr>
              <a:t>シークラゲグミ（カンロ）、トッピンポップグミ</a:t>
            </a:r>
          </a:p>
          <a:p>
            <a:pPr>
              <a:spcAft>
                <a:spcPts val="300"/>
              </a:spcAft>
            </a:pPr>
            <a:r>
              <a:rPr sz="1000">
                <a:solidFill>
                  <a:srgbClr val="475569"/>
                </a:solidFill>
                <a:latin typeface="Meiryo"/>
              </a:rPr>
              <a:t>チョコがけミントグミ、もちっとグミチョコ（森永）</a:t>
            </a:r>
          </a:p>
          <a:p>
            <a:pPr>
              <a:spcAft>
                <a:spcPts val="300"/>
              </a:spcAft>
            </a:pPr>
            <a:r>
              <a:rPr sz="1000">
                <a:solidFill>
                  <a:srgbClr val="475569"/>
                </a:solidFill>
                <a:latin typeface="Meiryo"/>
              </a:rPr>
              <a:t>→ 最も過密。差別化が難しくなっている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005840"/>
            <a:ext cx="12188952"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640080"/>
          </a:xfrm>
          <a:prstGeom prst="rect">
            <a:avLst/>
          </a:prstGeom>
          <a:noFill/>
        </p:spPr>
        <p:txBody>
          <a:bodyPr wrap="square">
            <a:spAutoFit/>
          </a:bodyPr>
          <a:lstStyle/>
          <a:p>
            <a:pPr algn="l"/>
            <a:r>
              <a:rPr sz="2200" b="1">
                <a:solidFill>
                  <a:srgbClr val="1B2A4A"/>
                </a:solidFill>
                <a:latin typeface="Meiryo"/>
              </a:rPr>
              <a:t>仮説の検証</a:t>
            </a:r>
          </a:p>
        </p:txBody>
      </p:sp>
      <p:sp>
        <p:nvSpPr>
          <p:cNvPr id="5" name="Rounded Rectangle 4"/>
          <p:cNvSpPr/>
          <p:nvPr/>
        </p:nvSpPr>
        <p:spPr>
          <a:xfrm>
            <a:off x="548640" y="1188720"/>
            <a:ext cx="10972800" cy="457200"/>
          </a:xfrm>
          <a:prstGeom prst="roundRect">
            <a:avLst/>
          </a:prstGeom>
          <a:solidFill>
            <a:srgbClr val="F5F3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r>
              <a:rPr sz="1400" b="1">
                <a:solidFill>
                  <a:srgbClr val="8B5CF6"/>
                </a:solidFill>
                <a:latin typeface="Meiryo"/>
              </a:rPr>
              <a:t>仮説：「ハード系と新食感系グミの発売が多い」</a:t>
            </a:r>
          </a:p>
        </p:txBody>
      </p:sp>
      <p:sp>
        <p:nvSpPr>
          <p:cNvPr id="6" name="Rounded Rectangle 5"/>
          <p:cNvSpPr/>
          <p:nvPr/>
        </p:nvSpPr>
        <p:spPr>
          <a:xfrm>
            <a:off x="548640" y="1828800"/>
            <a:ext cx="10972800" cy="45720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r>
              <a:rPr sz="1400" b="1">
                <a:solidFill>
                  <a:srgbClr val="FFFFFF"/>
                </a:solidFill>
                <a:latin typeface="Meiryo"/>
              </a:rPr>
              <a:t>結論：仮説は概ね正しい。ただし、より正確には「新食感系」の方がハード系より多い。</a:t>
            </a:r>
          </a:p>
        </p:txBody>
      </p:sp>
      <p:sp>
        <p:nvSpPr>
          <p:cNvPr id="7" name="Rounded Rectangle 6"/>
          <p:cNvSpPr/>
          <p:nvPr/>
        </p:nvSpPr>
        <p:spPr>
          <a:xfrm>
            <a:off x="548640" y="2651760"/>
            <a:ext cx="32918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a:lstStyle/>
          <a:p>
            <a:pPr algn="ctr"/>
            <a:r>
              <a:rPr sz="2400" b="1">
                <a:solidFill>
                  <a:srgbClr val="8B5CF6"/>
                </a:solidFill>
                <a:latin typeface="Meiryo"/>
              </a:rPr>
              <a:t>56%</a:t>
            </a:r>
          </a:p>
          <a:p>
            <a:pPr algn="ctr"/>
            <a:r>
              <a:rPr sz="900">
                <a:solidFill>
                  <a:srgbClr val="475569"/>
                </a:solidFill>
                <a:latin typeface="Meiryo"/>
              </a:rPr>
              <a:t>新食感系
しゃり・もちもち・とろける・4D等</a:t>
            </a:r>
          </a:p>
        </p:txBody>
      </p:sp>
      <p:sp>
        <p:nvSpPr>
          <p:cNvPr id="8" name="TextBox 7"/>
          <p:cNvSpPr txBox="1"/>
          <p:nvPr/>
        </p:nvSpPr>
        <p:spPr>
          <a:xfrm>
            <a:off x="548640" y="3977639"/>
            <a:ext cx="3291840" cy="274320"/>
          </a:xfrm>
          <a:prstGeom prst="rect">
            <a:avLst/>
          </a:prstGeom>
          <a:noFill/>
        </p:spPr>
        <p:txBody>
          <a:bodyPr wrap="square">
            <a:spAutoFit/>
          </a:bodyPr>
          <a:lstStyle/>
          <a:p>
            <a:pPr algn="ctr"/>
            <a:r>
              <a:rPr sz="1100" b="1">
                <a:solidFill>
                  <a:srgbClr val="8B5CF6"/>
                </a:solidFill>
                <a:latin typeface="Meiryo"/>
              </a:rPr>
              <a:t>15商品</a:t>
            </a:r>
          </a:p>
        </p:txBody>
      </p:sp>
      <p:sp>
        <p:nvSpPr>
          <p:cNvPr id="9" name="Rounded Rectangle 8"/>
          <p:cNvSpPr/>
          <p:nvPr/>
        </p:nvSpPr>
        <p:spPr>
          <a:xfrm>
            <a:off x="4114800" y="2651760"/>
            <a:ext cx="32918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a:lstStyle/>
          <a:p>
            <a:pPr algn="ctr"/>
            <a:r>
              <a:rPr sz="2400" b="1">
                <a:solidFill>
                  <a:srgbClr val="EF4444"/>
                </a:solidFill>
                <a:latin typeface="Meiryo"/>
              </a:rPr>
              <a:t>26%</a:t>
            </a:r>
          </a:p>
          <a:p>
            <a:pPr algn="ctr"/>
            <a:r>
              <a:rPr sz="900">
                <a:solidFill>
                  <a:srgbClr val="475569"/>
                </a:solidFill>
                <a:latin typeface="Meiryo"/>
              </a:rPr>
              <a:t>ハード系
タフグミ派生・KAZITTE!・忍者めし等</a:t>
            </a:r>
          </a:p>
        </p:txBody>
      </p:sp>
      <p:sp>
        <p:nvSpPr>
          <p:cNvPr id="10" name="TextBox 9"/>
          <p:cNvSpPr txBox="1"/>
          <p:nvPr/>
        </p:nvSpPr>
        <p:spPr>
          <a:xfrm>
            <a:off x="4114800" y="3977639"/>
            <a:ext cx="3291840" cy="274320"/>
          </a:xfrm>
          <a:prstGeom prst="rect">
            <a:avLst/>
          </a:prstGeom>
          <a:noFill/>
        </p:spPr>
        <p:txBody>
          <a:bodyPr wrap="square">
            <a:spAutoFit/>
          </a:bodyPr>
          <a:lstStyle/>
          <a:p>
            <a:pPr algn="ctr"/>
            <a:r>
              <a:rPr sz="1100" b="1">
                <a:solidFill>
                  <a:srgbClr val="EF4444"/>
                </a:solidFill>
                <a:latin typeface="Meiryo"/>
              </a:rPr>
              <a:t>7商品</a:t>
            </a:r>
          </a:p>
        </p:txBody>
      </p:sp>
      <p:sp>
        <p:nvSpPr>
          <p:cNvPr id="11" name="Rounded Rectangle 10"/>
          <p:cNvSpPr/>
          <p:nvPr/>
        </p:nvSpPr>
        <p:spPr>
          <a:xfrm>
            <a:off x="7680960" y="2651760"/>
            <a:ext cx="3291840" cy="128016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lIns="127000" rIns="127000" tIns="101600"/>
          <a:lstStyle/>
          <a:p>
            <a:pPr algn="ctr"/>
            <a:r>
              <a:rPr sz="2400" b="1">
                <a:solidFill>
                  <a:srgbClr val="10B981"/>
                </a:solidFill>
                <a:latin typeface="Meiryo"/>
              </a:rPr>
              <a:t>18%</a:t>
            </a:r>
          </a:p>
          <a:p>
            <a:pPr algn="ctr"/>
            <a:r>
              <a:rPr sz="900">
                <a:solidFill>
                  <a:srgbClr val="475569"/>
                </a:solidFill>
                <a:latin typeface="Meiryo"/>
              </a:rPr>
              <a:t>従来型ソフト/果汁
つぶグミPREMIUM・ネクター等</a:t>
            </a:r>
          </a:p>
        </p:txBody>
      </p:sp>
      <p:sp>
        <p:nvSpPr>
          <p:cNvPr id="12" name="TextBox 11"/>
          <p:cNvSpPr txBox="1"/>
          <p:nvPr/>
        </p:nvSpPr>
        <p:spPr>
          <a:xfrm>
            <a:off x="7680960" y="3977639"/>
            <a:ext cx="3291840" cy="274320"/>
          </a:xfrm>
          <a:prstGeom prst="rect">
            <a:avLst/>
          </a:prstGeom>
          <a:noFill/>
        </p:spPr>
        <p:txBody>
          <a:bodyPr wrap="square">
            <a:spAutoFit/>
          </a:bodyPr>
          <a:lstStyle/>
          <a:p>
            <a:pPr algn="ctr"/>
            <a:r>
              <a:rPr sz="1100" b="1">
                <a:solidFill>
                  <a:srgbClr val="10B981"/>
                </a:solidFill>
                <a:latin typeface="Meiryo"/>
              </a:rPr>
              <a:t>5商品</a:t>
            </a:r>
          </a:p>
        </p:txBody>
      </p:sp>
      <p:sp>
        <p:nvSpPr>
          <p:cNvPr id="13" name="Rectangle 12"/>
          <p:cNvSpPr/>
          <p:nvPr/>
        </p:nvSpPr>
        <p:spPr>
          <a:xfrm>
            <a:off x="548640" y="4572000"/>
            <a:ext cx="5837529" cy="54864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386169" y="4572000"/>
            <a:ext cx="2710281" cy="5486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096451" y="4572000"/>
            <a:ext cx="1876348" cy="5486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828800" y="4663440"/>
            <a:ext cx="2743200" cy="365760"/>
          </a:xfrm>
          <a:prstGeom prst="rect">
            <a:avLst/>
          </a:prstGeom>
          <a:noFill/>
        </p:spPr>
        <p:txBody>
          <a:bodyPr wrap="square">
            <a:spAutoFit/>
          </a:bodyPr>
          <a:lstStyle/>
          <a:p>
            <a:pPr algn="ctr"/>
            <a:r>
              <a:rPr sz="1100" b="1">
                <a:solidFill>
                  <a:srgbClr val="FFFFFF"/>
                </a:solidFill>
                <a:latin typeface="Meiryo"/>
              </a:rPr>
              <a:t>新食感系 56%</a:t>
            </a:r>
          </a:p>
        </p:txBody>
      </p:sp>
      <p:sp>
        <p:nvSpPr>
          <p:cNvPr id="17" name="TextBox 16"/>
          <p:cNvSpPr txBox="1"/>
          <p:nvPr/>
        </p:nvSpPr>
        <p:spPr>
          <a:xfrm>
            <a:off x="6386169" y="4663440"/>
            <a:ext cx="2710281" cy="365760"/>
          </a:xfrm>
          <a:prstGeom prst="rect">
            <a:avLst/>
          </a:prstGeom>
          <a:noFill/>
        </p:spPr>
        <p:txBody>
          <a:bodyPr wrap="square">
            <a:spAutoFit/>
          </a:bodyPr>
          <a:lstStyle/>
          <a:p>
            <a:pPr algn="ctr"/>
            <a:r>
              <a:rPr sz="1000" b="1">
                <a:solidFill>
                  <a:srgbClr val="FFFFFF"/>
                </a:solidFill>
                <a:latin typeface="Meiryo"/>
              </a:rPr>
              <a:t>ハード 26%</a:t>
            </a:r>
          </a:p>
        </p:txBody>
      </p:sp>
      <p:sp>
        <p:nvSpPr>
          <p:cNvPr id="18" name="TextBox 17"/>
          <p:cNvSpPr txBox="1"/>
          <p:nvPr/>
        </p:nvSpPr>
        <p:spPr>
          <a:xfrm>
            <a:off x="9096451" y="4663440"/>
            <a:ext cx="1876348" cy="365760"/>
          </a:xfrm>
          <a:prstGeom prst="rect">
            <a:avLst/>
          </a:prstGeom>
          <a:noFill/>
        </p:spPr>
        <p:txBody>
          <a:bodyPr wrap="square">
            <a:spAutoFit/>
          </a:bodyPr>
          <a:lstStyle/>
          <a:p>
            <a:pPr algn="ctr"/>
            <a:r>
              <a:rPr sz="900" b="1">
                <a:solidFill>
                  <a:srgbClr val="FFFFFF"/>
                </a:solidFill>
                <a:latin typeface="Meiryo"/>
              </a:rPr>
              <a:t>果汁 18%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005840"/>
            <a:ext cx="12188952"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640080"/>
          </a:xfrm>
          <a:prstGeom prst="rect">
            <a:avLst/>
          </a:prstGeom>
          <a:noFill/>
        </p:spPr>
        <p:txBody>
          <a:bodyPr wrap="square">
            <a:spAutoFit/>
          </a:bodyPr>
          <a:lstStyle/>
          <a:p>
            <a:pPr algn="l"/>
            <a:r>
              <a:rPr sz="2200" b="1">
                <a:solidFill>
                  <a:srgbClr val="1B2A4A"/>
                </a:solidFill>
                <a:latin typeface="Meiryo"/>
              </a:rPr>
              <a:t>詳細な傾向</a:t>
            </a:r>
          </a:p>
        </p:txBody>
      </p:sp>
      <p:sp>
        <p:nvSpPr>
          <p:cNvPr id="5" name="Rounded Rectangle 4"/>
          <p:cNvSpPr/>
          <p:nvPr/>
        </p:nvSpPr>
        <p:spPr>
          <a:xfrm>
            <a:off x="548640" y="1188720"/>
            <a:ext cx="3474720" cy="2560320"/>
          </a:xfrm>
          <a:prstGeom prst="roundRect">
            <a:avLst/>
          </a:prstGeom>
          <a:solidFill>
            <a:srgbClr val="F5F3FF"/>
          </a:solidFill>
          <a:ln w="254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25880"/>
            <a:ext cx="2926080" cy="365760"/>
          </a:xfrm>
          <a:prstGeom prst="rect">
            <a:avLst/>
          </a:prstGeom>
          <a:noFill/>
        </p:spPr>
        <p:txBody>
          <a:bodyPr wrap="square">
            <a:spAutoFit/>
          </a:bodyPr>
          <a:lstStyle/>
          <a:p>
            <a:pPr algn="l"/>
            <a:r>
              <a:rPr sz="1300" b="1">
                <a:solidFill>
                  <a:srgbClr val="8B5CF6"/>
                </a:solidFill>
                <a:latin typeface="Meiryo"/>
              </a:rPr>
              <a:t>1. 新食感系が最大勢力（56%）</a:t>
            </a:r>
          </a:p>
        </p:txBody>
      </p:sp>
      <p:sp>
        <p:nvSpPr>
          <p:cNvPr id="7" name="TextBox 6"/>
          <p:cNvSpPr txBox="1"/>
          <p:nvPr/>
        </p:nvSpPr>
        <p:spPr>
          <a:xfrm>
            <a:off x="822960" y="1737360"/>
            <a:ext cx="2926080" cy="1828800"/>
          </a:xfrm>
          <a:prstGeom prst="rect">
            <a:avLst/>
          </a:prstGeom>
          <a:noFill/>
        </p:spPr>
        <p:txBody>
          <a:bodyPr wrap="square">
            <a:spAutoFit/>
          </a:bodyPr>
          <a:lstStyle/>
          <a:p>
            <a:pPr>
              <a:spcAft>
                <a:spcPts val="300"/>
              </a:spcAft>
            </a:pPr>
            <a:r>
              <a:rPr sz="900">
                <a:solidFill>
                  <a:srgbClr val="475569"/>
                </a:solidFill>
                <a:latin typeface="Meiryo"/>
              </a:rPr>
              <a:t>カンロが4Dグミ・シークラゲ・とろみ～グミで</a:t>
            </a:r>
          </a:p>
          <a:p>
            <a:pPr>
              <a:spcAft>
                <a:spcPts val="300"/>
              </a:spcAft>
            </a:pPr>
            <a:r>
              <a:rPr sz="900">
                <a:solidFill>
                  <a:srgbClr val="475569"/>
                </a:solidFill>
                <a:latin typeface="Meiryo"/>
              </a:rPr>
              <a:t>「見た目×食感」の新カテゴリを開拓</a:t>
            </a:r>
          </a:p>
          <a:p>
            <a:pPr>
              <a:spcAft>
                <a:spcPts val="300"/>
              </a:spcAft>
            </a:pPr>
            <a:r>
              <a:rPr sz="900">
                <a:solidFill>
                  <a:srgbClr val="475569"/>
                </a:solidFill>
                <a:latin typeface="Meiryo"/>
              </a:rPr>
              <a:t/>
            </a:r>
          </a:p>
          <a:p>
            <a:pPr>
              <a:spcAft>
                <a:spcPts val="300"/>
              </a:spcAft>
            </a:pPr>
            <a:r>
              <a:rPr sz="900">
                <a:solidFill>
                  <a:srgbClr val="475569"/>
                </a:solidFill>
                <a:latin typeface="Meiryo"/>
              </a:rPr>
              <a:t>カバヤもしゃりinグミ・ピュアラルグミで</a:t>
            </a:r>
          </a:p>
          <a:p>
            <a:pPr>
              <a:spcAft>
                <a:spcPts val="300"/>
              </a:spcAft>
            </a:pPr>
            <a:r>
              <a:rPr sz="900">
                <a:solidFill>
                  <a:srgbClr val="475569"/>
                </a:solidFill>
                <a:latin typeface="Meiryo"/>
              </a:rPr>
              <a:t>複合食感に参入</a:t>
            </a:r>
          </a:p>
          <a:p>
            <a:pPr>
              <a:spcAft>
                <a:spcPts val="300"/>
              </a:spcAft>
            </a:pPr>
            <a:r>
              <a:rPr sz="900">
                <a:solidFill>
                  <a:srgbClr val="475569"/>
                </a:solidFill>
                <a:latin typeface="Meiryo"/>
              </a:rPr>
              <a:t/>
            </a:r>
          </a:p>
          <a:p>
            <a:pPr>
              <a:spcAft>
                <a:spcPts val="300"/>
              </a:spcAft>
            </a:pPr>
            <a:r>
              <a:rPr sz="900">
                <a:solidFill>
                  <a:srgbClr val="475569"/>
                </a:solidFill>
                <a:latin typeface="Meiryo"/>
              </a:rPr>
              <a:t>「もちゅ」「むちもっち」「ざくふにゅ」など</a:t>
            </a:r>
          </a:p>
          <a:p>
            <a:pPr>
              <a:spcAft>
                <a:spcPts val="300"/>
              </a:spcAft>
            </a:pPr>
            <a:r>
              <a:rPr sz="900">
                <a:solidFill>
                  <a:srgbClr val="475569"/>
                </a:solidFill>
                <a:latin typeface="Meiryo"/>
              </a:rPr>
              <a:t>オノマトペ系ネーミングが2025年に急増</a:t>
            </a:r>
          </a:p>
        </p:txBody>
      </p:sp>
      <p:sp>
        <p:nvSpPr>
          <p:cNvPr id="8" name="Rounded Rectangle 7"/>
          <p:cNvSpPr/>
          <p:nvPr/>
        </p:nvSpPr>
        <p:spPr>
          <a:xfrm>
            <a:off x="4297680" y="1188720"/>
            <a:ext cx="3474720" cy="2560320"/>
          </a:xfrm>
          <a:prstGeom prst="roundRect">
            <a:avLst/>
          </a:prstGeom>
          <a:solidFill>
            <a:srgbClr val="FDF2F8"/>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325880"/>
            <a:ext cx="2926080" cy="365760"/>
          </a:xfrm>
          <a:prstGeom prst="rect">
            <a:avLst/>
          </a:prstGeom>
          <a:noFill/>
        </p:spPr>
        <p:txBody>
          <a:bodyPr wrap="square">
            <a:spAutoFit/>
          </a:bodyPr>
          <a:lstStyle/>
          <a:p>
            <a:pPr algn="l"/>
            <a:r>
              <a:rPr sz="1300" b="1">
                <a:solidFill>
                  <a:srgbClr val="EF4444"/>
                </a:solidFill>
                <a:latin typeface="Meiryo"/>
              </a:rPr>
              <a:t>2. ハード系も堅調（26%）</a:t>
            </a:r>
          </a:p>
        </p:txBody>
      </p:sp>
      <p:sp>
        <p:nvSpPr>
          <p:cNvPr id="10" name="TextBox 9"/>
          <p:cNvSpPr txBox="1"/>
          <p:nvPr/>
        </p:nvSpPr>
        <p:spPr>
          <a:xfrm>
            <a:off x="4572000" y="1737360"/>
            <a:ext cx="2926080" cy="1828800"/>
          </a:xfrm>
          <a:prstGeom prst="rect">
            <a:avLst/>
          </a:prstGeom>
          <a:noFill/>
        </p:spPr>
        <p:txBody>
          <a:bodyPr wrap="square">
            <a:spAutoFit/>
          </a:bodyPr>
          <a:lstStyle/>
          <a:p>
            <a:pPr>
              <a:spcAft>
                <a:spcPts val="300"/>
              </a:spcAft>
            </a:pPr>
            <a:r>
              <a:rPr sz="900">
                <a:solidFill>
                  <a:srgbClr val="475569"/>
                </a:solidFill>
                <a:latin typeface="Meiryo"/>
              </a:rPr>
              <a:t>ロッテが約3年ぶりの新ブランド</a:t>
            </a:r>
          </a:p>
          <a:p>
            <a:pPr>
              <a:spcAft>
                <a:spcPts val="300"/>
              </a:spcAft>
            </a:pPr>
            <a:r>
              <a:rPr sz="900">
                <a:solidFill>
                  <a:srgbClr val="475569"/>
                </a:solidFill>
                <a:latin typeface="Meiryo"/>
              </a:rPr>
              <a:t>「KAZITTE!」でハード市場に参入（2025年）</a:t>
            </a:r>
          </a:p>
          <a:p>
            <a:pPr>
              <a:spcAft>
                <a:spcPts val="300"/>
              </a:spcAft>
            </a:pPr>
            <a:r>
              <a:rPr sz="900">
                <a:solidFill>
                  <a:srgbClr val="475569"/>
                </a:solidFill>
                <a:latin typeface="Meiryo"/>
              </a:rPr>
              <a:t/>
            </a:r>
          </a:p>
          <a:p>
            <a:pPr>
              <a:spcAft>
                <a:spcPts val="300"/>
              </a:spcAft>
            </a:pPr>
            <a:r>
              <a:rPr sz="900">
                <a:solidFill>
                  <a:srgbClr val="475569"/>
                </a:solidFill>
                <a:latin typeface="Meiryo"/>
              </a:rPr>
              <a:t>カバヤはタフグミを軸にサブライン拡張</a:t>
            </a:r>
          </a:p>
          <a:p>
            <a:pPr>
              <a:spcAft>
                <a:spcPts val="300"/>
              </a:spcAft>
            </a:pPr>
            <a:r>
              <a:rPr sz="900">
                <a:solidFill>
                  <a:srgbClr val="475569"/>
                </a:solidFill>
                <a:latin typeface="Meiryo"/>
              </a:rPr>
              <a:t>PRO（機能性）・BAR（形状）・mini（サイズ）</a:t>
            </a:r>
          </a:p>
          <a:p>
            <a:pPr>
              <a:spcAft>
                <a:spcPts val="300"/>
              </a:spcAft>
            </a:pPr>
            <a:r>
              <a:rPr sz="900">
                <a:solidFill>
                  <a:srgbClr val="475569"/>
                </a:solidFill>
                <a:latin typeface="Meiryo"/>
              </a:rPr>
              <a:t/>
            </a:r>
          </a:p>
          <a:p>
            <a:pPr>
              <a:spcAft>
                <a:spcPts val="300"/>
              </a:spcAft>
            </a:pPr>
            <a:r>
              <a:rPr sz="900">
                <a:solidFill>
                  <a:srgbClr val="475569"/>
                </a:solidFill>
                <a:latin typeface="Meiryo"/>
              </a:rPr>
              <a:t>明治「コーラアップ ザ ハード」で</a:t>
            </a:r>
          </a:p>
          <a:p>
            <a:pPr>
              <a:spcAft>
                <a:spcPts val="300"/>
              </a:spcAft>
            </a:pPr>
            <a:r>
              <a:rPr sz="900">
                <a:solidFill>
                  <a:srgbClr val="475569"/>
                </a:solidFill>
                <a:latin typeface="Meiryo"/>
              </a:rPr>
              <a:t>既存ブランドの超ハード化</a:t>
            </a:r>
          </a:p>
        </p:txBody>
      </p:sp>
      <p:sp>
        <p:nvSpPr>
          <p:cNvPr id="11" name="Rounded Rectangle 10"/>
          <p:cNvSpPr/>
          <p:nvPr/>
        </p:nvSpPr>
        <p:spPr>
          <a:xfrm>
            <a:off x="8046720" y="1188720"/>
            <a:ext cx="3474720" cy="2560320"/>
          </a:xfrm>
          <a:prstGeom prst="roundRect">
            <a:avLst/>
          </a:prstGeom>
          <a:solidFill>
            <a:srgbClr val="ECFDF5"/>
          </a:solidFill>
          <a:ln w="254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1325880"/>
            <a:ext cx="2926080" cy="365760"/>
          </a:xfrm>
          <a:prstGeom prst="rect">
            <a:avLst/>
          </a:prstGeom>
          <a:noFill/>
        </p:spPr>
        <p:txBody>
          <a:bodyPr wrap="square">
            <a:spAutoFit/>
          </a:bodyPr>
          <a:lstStyle/>
          <a:p>
            <a:pPr algn="l"/>
            <a:r>
              <a:rPr sz="1300" b="1">
                <a:solidFill>
                  <a:srgbClr val="10B981"/>
                </a:solidFill>
                <a:latin typeface="Meiryo"/>
              </a:rPr>
              <a:t>3. プレミアム果汁系は少数</a:t>
            </a:r>
          </a:p>
        </p:txBody>
      </p:sp>
      <p:sp>
        <p:nvSpPr>
          <p:cNvPr id="13" name="TextBox 12"/>
          <p:cNvSpPr txBox="1"/>
          <p:nvPr/>
        </p:nvSpPr>
        <p:spPr>
          <a:xfrm>
            <a:off x="8321040" y="1737360"/>
            <a:ext cx="2926080" cy="1828800"/>
          </a:xfrm>
          <a:prstGeom prst="rect">
            <a:avLst/>
          </a:prstGeom>
          <a:noFill/>
        </p:spPr>
        <p:txBody>
          <a:bodyPr wrap="square">
            <a:spAutoFit/>
          </a:bodyPr>
          <a:lstStyle/>
          <a:p>
            <a:pPr>
              <a:spcAft>
                <a:spcPts val="300"/>
              </a:spcAft>
            </a:pPr>
            <a:r>
              <a:rPr sz="900">
                <a:solidFill>
                  <a:srgbClr val="475569"/>
                </a:solidFill>
                <a:latin typeface="Meiryo"/>
              </a:rPr>
              <a:t>つぶグミPREMIUM、ネクター厳選果実など</a:t>
            </a:r>
          </a:p>
          <a:p>
            <a:pPr>
              <a:spcAft>
                <a:spcPts val="300"/>
              </a:spcAft>
            </a:pPr>
            <a:r>
              <a:rPr sz="900">
                <a:solidFill>
                  <a:srgbClr val="475569"/>
                </a:solidFill>
                <a:latin typeface="Meiryo"/>
              </a:rPr>
              <a:t>「素材の質」で差別化</a:t>
            </a:r>
          </a:p>
          <a:p>
            <a:pPr>
              <a:spcAft>
                <a:spcPts val="300"/>
              </a:spcAft>
            </a:pPr>
            <a:r>
              <a:rPr sz="900">
                <a:solidFill>
                  <a:srgbClr val="475569"/>
                </a:solidFill>
                <a:latin typeface="Meiryo"/>
              </a:rPr>
              <a:t/>
            </a:r>
          </a:p>
          <a:p>
            <a:pPr>
              <a:spcAft>
                <a:spcPts val="300"/>
              </a:spcAft>
            </a:pPr>
            <a:r>
              <a:rPr sz="900">
                <a:solidFill>
                  <a:srgbClr val="475569"/>
                </a:solidFill>
                <a:latin typeface="Meiryo"/>
              </a:rPr>
              <a:t>数は少ないが高単価・プレミアム路線として</a:t>
            </a:r>
          </a:p>
          <a:p>
            <a:pPr>
              <a:spcAft>
                <a:spcPts val="300"/>
              </a:spcAft>
            </a:pPr>
            <a:r>
              <a:rPr sz="900">
                <a:solidFill>
                  <a:srgbClr val="475569"/>
                </a:solidFill>
                <a:latin typeface="Meiryo"/>
              </a:rPr>
              <a:t>存在感を発揮</a:t>
            </a:r>
          </a:p>
        </p:txBody>
      </p:sp>
      <p:sp>
        <p:nvSpPr>
          <p:cNvPr id="14" name="TextBox 13"/>
          <p:cNvSpPr txBox="1"/>
          <p:nvPr/>
        </p:nvSpPr>
        <p:spPr>
          <a:xfrm>
            <a:off x="548640" y="4023360"/>
            <a:ext cx="10972800" cy="365760"/>
          </a:xfrm>
          <a:prstGeom prst="rect">
            <a:avLst/>
          </a:prstGeom>
          <a:noFill/>
        </p:spPr>
        <p:txBody>
          <a:bodyPr wrap="square">
            <a:spAutoFit/>
          </a:bodyPr>
          <a:lstStyle/>
          <a:p>
            <a:pPr algn="l"/>
            <a:r>
              <a:rPr sz="1400" b="1">
                <a:solidFill>
                  <a:srgbClr val="1B2A4A"/>
                </a:solidFill>
                <a:latin typeface="Meiryo"/>
              </a:rPr>
              <a:t>4. 年別の変化</a:t>
            </a:r>
          </a:p>
        </p:txBody>
      </p:sp>
      <p:graphicFrame>
        <p:nvGraphicFramePr>
          <p:cNvPr id="15" name="Table 14"/>
          <p:cNvGraphicFramePr>
            <a:graphicFrameLocks noGrp="1"/>
          </p:cNvGraphicFramePr>
          <p:nvPr/>
        </p:nvGraphicFramePr>
        <p:xfrm>
          <a:off x="548640" y="4480560"/>
          <a:ext cx="10972800" cy="1737360"/>
        </p:xfrm>
        <a:graphic>
          <a:graphicData uri="http://schemas.openxmlformats.org/drawingml/2006/table">
            <a:tbl>
              <a:tblPr firstRow="1" bandRow="1">
                <a:tableStyleId>{5C22544A-7EE6-4342-B048-85BDC9FD1C3A}</a:tableStyleId>
              </a:tblPr>
              <a:tblGrid>
                <a:gridCol w="1371600"/>
                <a:gridCol w="9601200"/>
              </a:tblGrid>
              <a:tr h="347472">
                <a:tc>
                  <a:txBody>
                    <a:bodyPr wrap="square"/>
                    <a:lstStyle/>
                    <a:p>
                      <a:pPr algn="ctr"/>
                      <a:r>
                        <a:rPr sz="1000" b="1">
                          <a:solidFill>
                            <a:srgbClr val="FFFFFF"/>
                          </a:solidFill>
                          <a:latin typeface="Meiryo"/>
                        </a:rPr>
                        <a:t>年</a:t>
                      </a:r>
                    </a:p>
                  </a:txBody>
                  <a:tcPr anchor="ctr">
                    <a:solidFill>
                      <a:srgbClr val="1E3A5F"/>
                    </a:solidFill>
                  </a:tcPr>
                </a:tc>
                <a:tc>
                  <a:txBody>
                    <a:bodyPr wrap="square"/>
                    <a:lstStyle/>
                    <a:p>
                      <a:pPr algn="ctr"/>
                      <a:r>
                        <a:rPr sz="1000" b="1">
                          <a:solidFill>
                            <a:srgbClr val="FFFFFF"/>
                          </a:solidFill>
                          <a:latin typeface="Meiryo"/>
                        </a:rPr>
                        <a:t>主な傾向</a:t>
                      </a:r>
                    </a:p>
                  </a:txBody>
                  <a:tcPr anchor="ctr">
                    <a:solidFill>
                      <a:srgbClr val="1E3A5F"/>
                    </a:solidFill>
                  </a:tcPr>
                </a:tc>
              </a:tr>
              <a:tr h="347472">
                <a:tc>
                  <a:txBody>
                    <a:bodyPr wrap="square"/>
                    <a:lstStyle/>
                    <a:p>
                      <a:pPr algn="l"/>
                      <a:r>
                        <a:rPr sz="1000" b="0">
                          <a:solidFill>
                            <a:srgbClr val="1E293B"/>
                          </a:solidFill>
                          <a:latin typeface="Meiryo"/>
                        </a:rPr>
                        <a:t>2023</a:t>
                      </a:r>
                    </a:p>
                  </a:txBody>
                  <a:tcPr anchor="ctr">
                    <a:solidFill>
                      <a:srgbClr val="F8FAFC"/>
                    </a:solidFill>
                  </a:tcPr>
                </a:tc>
                <a:tc>
                  <a:txBody>
                    <a:bodyPr wrap="square"/>
                    <a:lstStyle/>
                    <a:p>
                      <a:pPr algn="l"/>
                      <a:r>
                        <a:rPr sz="1000" b="0">
                          <a:solidFill>
                            <a:srgbClr val="1E293B"/>
                          </a:solidFill>
                          <a:latin typeface="Meiryo"/>
                        </a:rPr>
                        <a:t>4Dグミ・シークラゲなど SNS映え＋新食感 の起点</a:t>
                      </a:r>
                    </a:p>
                  </a:txBody>
                  <a:tcPr anchor="ctr">
                    <a:solidFill>
                      <a:srgbClr val="F8FAFC"/>
                    </a:solidFill>
                  </a:tcPr>
                </a:tc>
              </a:tr>
              <a:tr h="347472">
                <a:tc>
                  <a:txBody>
                    <a:bodyPr wrap="square"/>
                    <a:lstStyle/>
                    <a:p>
                      <a:pPr algn="l"/>
                      <a:r>
                        <a:rPr sz="1000" b="0">
                          <a:solidFill>
                            <a:srgbClr val="1E293B"/>
                          </a:solidFill>
                          <a:latin typeface="Meiryo"/>
                        </a:rPr>
                        <a:t>2024</a:t>
                      </a:r>
                    </a:p>
                  </a:txBody>
                  <a:tcPr anchor="ctr">
                    <a:solidFill>
                      <a:srgbClr val="E2E8F0"/>
                    </a:solidFill>
                  </a:tcPr>
                </a:tc>
                <a:tc>
                  <a:txBody>
                    <a:bodyPr wrap="square"/>
                    <a:lstStyle/>
                    <a:p>
                      <a:pPr algn="l"/>
                      <a:r>
                        <a:rPr sz="1000" b="0">
                          <a:solidFill>
                            <a:srgbClr val="1E293B"/>
                          </a:solidFill>
                          <a:latin typeface="Meiryo"/>
                        </a:rPr>
                        <a:t>トッピンポップ・しゃりin等 複合食感 の多様化</a:t>
                      </a:r>
                    </a:p>
                  </a:txBody>
                  <a:tcPr anchor="ctr">
                    <a:solidFill>
                      <a:srgbClr val="E2E8F0"/>
                    </a:solidFill>
                  </a:tcPr>
                </a:tc>
              </a:tr>
              <a:tr h="347472">
                <a:tc>
                  <a:txBody>
                    <a:bodyPr wrap="square"/>
                    <a:lstStyle/>
                    <a:p>
                      <a:pPr algn="l"/>
                      <a:r>
                        <a:rPr sz="1000" b="0">
                          <a:solidFill>
                            <a:srgbClr val="1E293B"/>
                          </a:solidFill>
                          <a:latin typeface="Meiryo"/>
                        </a:rPr>
                        <a:t>2025</a:t>
                      </a:r>
                    </a:p>
                  </a:txBody>
                  <a:tcPr anchor="ctr">
                    <a:solidFill>
                      <a:srgbClr val="F8FAFC"/>
                    </a:solidFill>
                  </a:tcPr>
                </a:tc>
                <a:tc>
                  <a:txBody>
                    <a:bodyPr wrap="square"/>
                    <a:lstStyle/>
                    <a:p>
                      <a:pPr algn="l"/>
                      <a:r>
                        <a:rPr sz="1000" b="0">
                          <a:solidFill>
                            <a:srgbClr val="1E293B"/>
                          </a:solidFill>
                          <a:latin typeface="Meiryo"/>
                        </a:rPr>
                        <a:t>KAZITTE!参入で ハード系競争激化 ＋オノマトペ食感の乱立</a:t>
                      </a:r>
                    </a:p>
                  </a:txBody>
                  <a:tcPr anchor="ctr">
                    <a:solidFill>
                      <a:srgbClr val="F8FAFC"/>
                    </a:solidFill>
                  </a:tcPr>
                </a:tc>
              </a:tr>
              <a:tr h="347472">
                <a:tc>
                  <a:txBody>
                    <a:bodyPr wrap="square"/>
                    <a:lstStyle/>
                    <a:p>
                      <a:pPr algn="l"/>
                      <a:r>
                        <a:rPr sz="1000" b="0">
                          <a:solidFill>
                            <a:srgbClr val="1E293B"/>
                          </a:solidFill>
                          <a:latin typeface="Meiryo"/>
                        </a:rPr>
                        <a:t>2026</a:t>
                      </a:r>
                    </a:p>
                  </a:txBody>
                  <a:tcPr anchor="ctr">
                    <a:solidFill>
                      <a:srgbClr val="E2E8F0"/>
                    </a:solidFill>
                  </a:tcPr>
                </a:tc>
                <a:tc>
                  <a:txBody>
                    <a:bodyPr wrap="square"/>
                    <a:lstStyle/>
                    <a:p>
                      <a:pPr algn="l"/>
                      <a:r>
                        <a:rPr sz="1000" b="0">
                          <a:solidFill>
                            <a:srgbClr val="1E293B"/>
                          </a:solidFill>
                          <a:latin typeface="Meiryo"/>
                        </a:rPr>
                        <a:t>タフグミ派生・小梅グミ等 既存ブランドのグミ展開 が加速</a:t>
                      </a:r>
                    </a:p>
                  </a:txBody>
                  <a:tcPr anchor="ctr">
                    <a:solidFill>
                      <a:srgbClr val="E2E8F0"/>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365760" cy="685800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1005840"/>
            <a:ext cx="12188952" cy="2743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65760"/>
            <a:ext cx="10972800" cy="640080"/>
          </a:xfrm>
          <a:prstGeom prst="rect">
            <a:avLst/>
          </a:prstGeom>
          <a:noFill/>
        </p:spPr>
        <p:txBody>
          <a:bodyPr wrap="square">
            <a:spAutoFit/>
          </a:bodyPr>
          <a:lstStyle/>
          <a:p>
            <a:pPr algn="l"/>
            <a:r>
              <a:rPr sz="2200" b="1">
                <a:solidFill>
                  <a:srgbClr val="1B2A4A"/>
                </a:solidFill>
                <a:latin typeface="Meiryo"/>
              </a:rPr>
              <a:t>マーケティング的示唆</a:t>
            </a:r>
          </a:p>
        </p:txBody>
      </p:sp>
      <p:sp>
        <p:nvSpPr>
          <p:cNvPr id="5" name="Rounded Rectangle 4"/>
          <p:cNvSpPr/>
          <p:nvPr/>
        </p:nvSpPr>
        <p:spPr>
          <a:xfrm>
            <a:off x="548640" y="1188720"/>
            <a:ext cx="5303520" cy="2560320"/>
          </a:xfrm>
          <a:prstGeom prst="roundRect">
            <a:avLst/>
          </a:prstGeom>
          <a:solidFill>
            <a:srgbClr val="FEF2F2"/>
          </a:solidFill>
          <a:ln w="254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371600"/>
            <a:ext cx="4754880" cy="365760"/>
          </a:xfrm>
          <a:prstGeom prst="rect">
            <a:avLst/>
          </a:prstGeom>
          <a:noFill/>
        </p:spPr>
        <p:txBody>
          <a:bodyPr wrap="square">
            <a:spAutoFit/>
          </a:bodyPr>
          <a:lstStyle/>
          <a:p>
            <a:pPr algn="l"/>
            <a:r>
              <a:rPr sz="1600" b="1">
                <a:solidFill>
                  <a:srgbClr val="EF4444"/>
                </a:solidFill>
                <a:latin typeface="Meiryo"/>
              </a:rPr>
              <a:t>過密地帯（レッドオーシャン）</a:t>
            </a:r>
          </a:p>
        </p:txBody>
      </p:sp>
      <p:sp>
        <p:nvSpPr>
          <p:cNvPr id="7" name="TextBox 6"/>
          <p:cNvSpPr txBox="1"/>
          <p:nvPr/>
        </p:nvSpPr>
        <p:spPr>
          <a:xfrm>
            <a:off x="822960" y="1828800"/>
            <a:ext cx="4754880" cy="365760"/>
          </a:xfrm>
          <a:prstGeom prst="rect">
            <a:avLst/>
          </a:prstGeom>
          <a:noFill/>
        </p:spPr>
        <p:txBody>
          <a:bodyPr wrap="square">
            <a:spAutoFit/>
          </a:bodyPr>
          <a:lstStyle/>
          <a:p>
            <a:pPr algn="l"/>
            <a:r>
              <a:rPr sz="1400" b="1">
                <a:solidFill>
                  <a:srgbClr val="1B2A4A"/>
                </a:solidFill>
                <a:latin typeface="Meiryo"/>
              </a:rPr>
              <a:t>右下：ソフト × 刺激/新食感</a:t>
            </a:r>
          </a:p>
        </p:txBody>
      </p:sp>
      <p:sp>
        <p:nvSpPr>
          <p:cNvPr id="8" name="TextBox 7"/>
          <p:cNvSpPr txBox="1"/>
          <p:nvPr/>
        </p:nvSpPr>
        <p:spPr>
          <a:xfrm>
            <a:off x="822960" y="2286000"/>
            <a:ext cx="4754880" cy="1371600"/>
          </a:xfrm>
          <a:prstGeom prst="rect">
            <a:avLst/>
          </a:prstGeom>
          <a:noFill/>
        </p:spPr>
        <p:txBody>
          <a:bodyPr wrap="square">
            <a:spAutoFit/>
          </a:bodyPr>
          <a:lstStyle/>
          <a:p>
            <a:pPr>
              <a:spcAft>
                <a:spcPts val="300"/>
              </a:spcAft>
            </a:pPr>
            <a:r>
              <a:rPr sz="1100">
                <a:solidFill>
                  <a:srgbClr val="475569"/>
                </a:solidFill>
                <a:latin typeface="Meiryo"/>
              </a:rPr>
              <a:t>10商品が集中する最も過密な象限</a:t>
            </a:r>
          </a:p>
          <a:p>
            <a:pPr>
              <a:spcAft>
                <a:spcPts val="300"/>
              </a:spcAft>
            </a:pPr>
            <a:r>
              <a:rPr sz="1100">
                <a:solidFill>
                  <a:srgbClr val="475569"/>
                </a:solidFill>
                <a:latin typeface="Meiryo"/>
              </a:rPr>
              <a:t/>
            </a:r>
          </a:p>
          <a:p>
            <a:pPr>
              <a:spcAft>
                <a:spcPts val="300"/>
              </a:spcAft>
            </a:pPr>
            <a:r>
              <a:rPr sz="1100">
                <a:solidFill>
                  <a:srgbClr val="475569"/>
                </a:solidFill>
                <a:latin typeface="Meiryo"/>
              </a:rPr>
              <a:t>「しゃり」「ざくふにゅ」「もちっと」など</a:t>
            </a:r>
          </a:p>
          <a:p>
            <a:pPr>
              <a:spcAft>
                <a:spcPts val="300"/>
              </a:spcAft>
            </a:pPr>
            <a:r>
              <a:rPr sz="1100">
                <a:solidFill>
                  <a:srgbClr val="475569"/>
                </a:solidFill>
                <a:latin typeface="Meiryo"/>
              </a:rPr>
              <a:t>新食感の差別化が限界に近づいている</a:t>
            </a:r>
          </a:p>
          <a:p>
            <a:pPr>
              <a:spcAft>
                <a:spcPts val="300"/>
              </a:spcAft>
            </a:pPr>
            <a:r>
              <a:rPr sz="1100">
                <a:solidFill>
                  <a:srgbClr val="475569"/>
                </a:solidFill>
                <a:latin typeface="Meiryo"/>
              </a:rPr>
              <a:t/>
            </a:r>
          </a:p>
          <a:p>
            <a:pPr>
              <a:spcAft>
                <a:spcPts val="300"/>
              </a:spcAft>
            </a:pPr>
            <a:r>
              <a:rPr sz="1100">
                <a:solidFill>
                  <a:srgbClr val="475569"/>
                </a:solidFill>
                <a:latin typeface="Meiryo"/>
              </a:rPr>
              <a:t>→ この領域での新商品は差別化困難</a:t>
            </a:r>
          </a:p>
        </p:txBody>
      </p:sp>
      <p:sp>
        <p:nvSpPr>
          <p:cNvPr id="9" name="Rounded Rectangle 8"/>
          <p:cNvSpPr/>
          <p:nvPr/>
        </p:nvSpPr>
        <p:spPr>
          <a:xfrm>
            <a:off x="6217920" y="1188720"/>
            <a:ext cx="5303520" cy="2560320"/>
          </a:xfrm>
          <a:prstGeom prst="roundRect">
            <a:avLst/>
          </a:prstGeom>
          <a:solidFill>
            <a:srgbClr val="EFF6FF"/>
          </a:solidFill>
          <a:ln w="254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371600"/>
            <a:ext cx="4754880" cy="365760"/>
          </a:xfrm>
          <a:prstGeom prst="rect">
            <a:avLst/>
          </a:prstGeom>
          <a:noFill/>
        </p:spPr>
        <p:txBody>
          <a:bodyPr wrap="square">
            <a:spAutoFit/>
          </a:bodyPr>
          <a:lstStyle/>
          <a:p>
            <a:pPr algn="l"/>
            <a:r>
              <a:rPr sz="1600" b="1">
                <a:solidFill>
                  <a:srgbClr val="3B82F6"/>
                </a:solidFill>
                <a:latin typeface="Meiryo"/>
              </a:rPr>
              <a:t>空白地帯（ブルーオーシャン）</a:t>
            </a:r>
          </a:p>
        </p:txBody>
      </p:sp>
      <p:sp>
        <p:nvSpPr>
          <p:cNvPr id="11" name="TextBox 10"/>
          <p:cNvSpPr txBox="1"/>
          <p:nvPr/>
        </p:nvSpPr>
        <p:spPr>
          <a:xfrm>
            <a:off x="6492240" y="1828800"/>
            <a:ext cx="4754880" cy="365760"/>
          </a:xfrm>
          <a:prstGeom prst="rect">
            <a:avLst/>
          </a:prstGeom>
          <a:noFill/>
        </p:spPr>
        <p:txBody>
          <a:bodyPr wrap="square">
            <a:spAutoFit/>
          </a:bodyPr>
          <a:lstStyle/>
          <a:p>
            <a:pPr algn="l"/>
            <a:r>
              <a:rPr sz="1400" b="1">
                <a:solidFill>
                  <a:srgbClr val="1B2A4A"/>
                </a:solidFill>
                <a:latin typeface="Meiryo"/>
              </a:rPr>
              <a:t>左上：ハード × 果汁/ナチュラル</a:t>
            </a:r>
          </a:p>
        </p:txBody>
      </p:sp>
      <p:sp>
        <p:nvSpPr>
          <p:cNvPr id="12" name="TextBox 11"/>
          <p:cNvSpPr txBox="1"/>
          <p:nvPr/>
        </p:nvSpPr>
        <p:spPr>
          <a:xfrm>
            <a:off x="6492240" y="2286000"/>
            <a:ext cx="4754880" cy="1371600"/>
          </a:xfrm>
          <a:prstGeom prst="rect">
            <a:avLst/>
          </a:prstGeom>
          <a:noFill/>
        </p:spPr>
        <p:txBody>
          <a:bodyPr wrap="square">
            <a:spAutoFit/>
          </a:bodyPr>
          <a:lstStyle/>
          <a:p>
            <a:pPr>
              <a:spcAft>
                <a:spcPts val="300"/>
              </a:spcAft>
            </a:pPr>
            <a:r>
              <a:rPr sz="1100">
                <a:solidFill>
                  <a:srgbClr val="475569"/>
                </a:solidFill>
                <a:latin typeface="Meiryo"/>
              </a:rPr>
              <a:t>わずか2商品しかない比較的空白地帯</a:t>
            </a:r>
          </a:p>
          <a:p>
            <a:pPr>
              <a:spcAft>
                <a:spcPts val="300"/>
              </a:spcAft>
            </a:pPr>
            <a:r>
              <a:rPr sz="1100">
                <a:solidFill>
                  <a:srgbClr val="475569"/>
                </a:solidFill>
                <a:latin typeface="Meiryo"/>
              </a:rPr>
              <a:t/>
            </a:r>
          </a:p>
          <a:p>
            <a:pPr>
              <a:spcAft>
                <a:spcPts val="300"/>
              </a:spcAft>
            </a:pPr>
            <a:r>
              <a:rPr sz="1100">
                <a:solidFill>
                  <a:srgbClr val="475569"/>
                </a:solidFill>
                <a:latin typeface="Meiryo"/>
              </a:rPr>
              <a:t>「噛み応えがあるのに果汁感がしっかりある」</a:t>
            </a:r>
          </a:p>
          <a:p>
            <a:pPr>
              <a:spcAft>
                <a:spcPts val="300"/>
              </a:spcAft>
            </a:pPr>
            <a:r>
              <a:rPr sz="1100">
                <a:solidFill>
                  <a:srgbClr val="475569"/>
                </a:solidFill>
                <a:latin typeface="Meiryo"/>
              </a:rPr>
              <a:t>という商品は少ない</a:t>
            </a:r>
          </a:p>
          <a:p>
            <a:pPr>
              <a:spcAft>
                <a:spcPts val="300"/>
              </a:spcAft>
            </a:pPr>
            <a:r>
              <a:rPr sz="1100">
                <a:solidFill>
                  <a:srgbClr val="475569"/>
                </a:solidFill>
                <a:latin typeface="Meiryo"/>
              </a:rPr>
              <a:t/>
            </a:r>
          </a:p>
          <a:p>
            <a:pPr>
              <a:spcAft>
                <a:spcPts val="300"/>
              </a:spcAft>
            </a:pPr>
            <a:r>
              <a:rPr sz="1100">
                <a:solidFill>
                  <a:srgbClr val="475569"/>
                </a:solidFill>
                <a:latin typeface="Meiryo"/>
              </a:rPr>
              <a:t>→ 新商品開発の余地あり</a:t>
            </a:r>
          </a:p>
        </p:txBody>
      </p:sp>
      <p:sp>
        <p:nvSpPr>
          <p:cNvPr id="13" name="Rounded Rectangle 12"/>
          <p:cNvSpPr/>
          <p:nvPr/>
        </p:nvSpPr>
        <p:spPr>
          <a:xfrm>
            <a:off x="548640" y="4114800"/>
            <a:ext cx="10972800" cy="1645920"/>
          </a:xfrm>
          <a:prstGeom prst="round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wrap="square" lIns="177800" rIns="177800" tIns="127000" bIns="127000"/>
          <a:lstStyle/>
          <a:p>
            <a:pPr algn="ctr"/>
            <a:r>
              <a:rPr sz="1300" b="1">
                <a:solidFill>
                  <a:srgbClr val="FFFFFF"/>
                </a:solidFill>
                <a:latin typeface="Meiryo"/>
              </a:rPr>
              <a:t>市場機会：「ハード × 果汁/ナチュラル」領域
噛み応えがしっかりありながら、果汁感やナチュラルな味わいを持つグミは、
現在ほとんど存在しない。素材感のある果汁と本格的な噛み応えを両立した商品が、
次の差別化ポイントになる可能性が高い。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0"/>
            <a:ext cx="12188952" cy="73152"/>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657600"/>
            <a:ext cx="12188952" cy="45720"/>
          </a:xfrm>
          <a:prstGeom prst="rect">
            <a:avLst/>
          </a:prstGeom>
          <a:solidFill>
            <a:srgbClr val="8B5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097280"/>
            <a:ext cx="9144000" cy="548640"/>
          </a:xfrm>
          <a:prstGeom prst="rect">
            <a:avLst/>
          </a:prstGeom>
          <a:noFill/>
        </p:spPr>
        <p:txBody>
          <a:bodyPr wrap="square">
            <a:spAutoFit/>
          </a:bodyPr>
          <a:lstStyle/>
          <a:p>
            <a:pPr algn="l"/>
            <a:r>
              <a:rPr sz="1800" b="0">
                <a:solidFill>
                  <a:srgbClr val="94A3B8"/>
                </a:solidFill>
                <a:latin typeface="Meiryo"/>
              </a:rPr>
              <a:t>まとめ</a:t>
            </a:r>
          </a:p>
        </p:txBody>
      </p:sp>
      <p:sp>
        <p:nvSpPr>
          <p:cNvPr id="5" name="TextBox 4"/>
          <p:cNvSpPr txBox="1"/>
          <p:nvPr/>
        </p:nvSpPr>
        <p:spPr>
          <a:xfrm>
            <a:off x="1371600" y="1645920"/>
            <a:ext cx="9144000" cy="731520"/>
          </a:xfrm>
          <a:prstGeom prst="rect">
            <a:avLst/>
          </a:prstGeom>
          <a:noFill/>
        </p:spPr>
        <p:txBody>
          <a:bodyPr wrap="square">
            <a:spAutoFit/>
          </a:bodyPr>
          <a:lstStyle/>
          <a:p>
            <a:pPr algn="l"/>
            <a:r>
              <a:rPr sz="3000" b="1">
                <a:solidFill>
                  <a:srgbClr val="FFFFFF"/>
                </a:solidFill>
                <a:latin typeface="Meiryo"/>
              </a:rPr>
              <a:t>グミ市場 ポジショニング分析の要点</a:t>
            </a:r>
          </a:p>
        </p:txBody>
      </p:sp>
      <p:sp>
        <p:nvSpPr>
          <p:cNvPr id="6" name="TextBox 5"/>
          <p:cNvSpPr txBox="1"/>
          <p:nvPr/>
        </p:nvSpPr>
        <p:spPr>
          <a:xfrm>
            <a:off x="1371600" y="3931920"/>
            <a:ext cx="9144000" cy="2743200"/>
          </a:xfrm>
          <a:prstGeom prst="rect">
            <a:avLst/>
          </a:prstGeom>
          <a:noFill/>
        </p:spPr>
        <p:txBody>
          <a:bodyPr wrap="square">
            <a:spAutoFit/>
          </a:bodyPr>
          <a:lstStyle/>
          <a:p>
            <a:pPr>
              <a:spcAft>
                <a:spcPts val="300"/>
              </a:spcAft>
            </a:pPr>
            <a:r>
              <a:rPr sz="1300">
                <a:solidFill>
                  <a:srgbClr val="CBD5E1"/>
                </a:solidFill>
                <a:latin typeface="Meiryo"/>
              </a:rPr>
              <a:t>1. 新食感系が最大勢力（56%）、ハード系も堅調（26%）</a:t>
            </a:r>
          </a:p>
          <a:p>
            <a:pPr>
              <a:spcAft>
                <a:spcPts val="300"/>
              </a:spcAft>
            </a:pPr>
            <a:r>
              <a:rPr sz="1300">
                <a:solidFill>
                  <a:srgbClr val="CBD5E1"/>
                </a:solidFill>
                <a:latin typeface="Meiryo"/>
              </a:rPr>
              <a:t/>
            </a:r>
          </a:p>
          <a:p>
            <a:pPr>
              <a:spcAft>
                <a:spcPts val="300"/>
              </a:spcAft>
            </a:pPr>
            <a:r>
              <a:rPr sz="1300">
                <a:solidFill>
                  <a:srgbClr val="CBD5E1"/>
                </a:solidFill>
                <a:latin typeface="Meiryo"/>
              </a:rPr>
              <a:t>2. 「ソフト × 刺激/新食感」が最も過密（レッドオーシャン）</a:t>
            </a:r>
          </a:p>
          <a:p>
            <a:pPr>
              <a:spcAft>
                <a:spcPts val="300"/>
              </a:spcAft>
            </a:pPr>
            <a:r>
              <a:rPr sz="1300">
                <a:solidFill>
                  <a:srgbClr val="CBD5E1"/>
                </a:solidFill>
                <a:latin typeface="Meiryo"/>
              </a:rPr>
              <a:t/>
            </a:r>
          </a:p>
          <a:p>
            <a:pPr>
              <a:spcAft>
                <a:spcPts val="300"/>
              </a:spcAft>
            </a:pPr>
            <a:r>
              <a:rPr sz="1300">
                <a:solidFill>
                  <a:srgbClr val="CBD5E1"/>
                </a:solidFill>
                <a:latin typeface="Meiryo"/>
              </a:rPr>
              <a:t>3. 「ハード × 果汁/ナチュラル」が空白地帯（ブルーオーシャン）</a:t>
            </a:r>
          </a:p>
          <a:p>
            <a:pPr>
              <a:spcAft>
                <a:spcPts val="300"/>
              </a:spcAft>
            </a:pPr>
            <a:r>
              <a:rPr sz="1300">
                <a:solidFill>
                  <a:srgbClr val="CBD5E1"/>
                </a:solidFill>
                <a:latin typeface="Meiryo"/>
              </a:rPr>
              <a:t>     噛み応え + 果汁感の両立が次の差別化機会</a:t>
            </a:r>
          </a:p>
          <a:p>
            <a:pPr>
              <a:spcAft>
                <a:spcPts val="300"/>
              </a:spcAft>
            </a:pPr>
            <a:r>
              <a:rPr sz="1300">
                <a:solidFill>
                  <a:srgbClr val="CBD5E1"/>
                </a:solidFill>
                <a:latin typeface="Meiryo"/>
              </a:rPr>
              <a:t/>
            </a:r>
          </a:p>
          <a:p>
            <a:pPr>
              <a:spcAft>
                <a:spcPts val="300"/>
              </a:spcAft>
            </a:pPr>
            <a:r>
              <a:rPr sz="1300">
                <a:solidFill>
                  <a:srgbClr val="CBD5E1"/>
                </a:solidFill>
                <a:latin typeface="Meiryo"/>
              </a:rPr>
              <a:t>4. 2025年以降、ハード系の競争が激化</a:t>
            </a:r>
          </a:p>
          <a:p>
            <a:pPr>
              <a:spcAft>
                <a:spcPts val="300"/>
              </a:spcAft>
            </a:pPr>
            <a:r>
              <a:rPr sz="1300">
                <a:solidFill>
                  <a:srgbClr val="CBD5E1"/>
                </a:solidFill>
                <a:latin typeface="Meiryo"/>
              </a:rPr>
              <a:t>     ロッテ「KAZITTE!」参入、既存ブランドのグミ展開加速</a:t>
            </a:r>
          </a:p>
          <a:p>
            <a:pPr>
              <a:spcAft>
                <a:spcPts val="300"/>
              </a:spcAft>
            </a:pPr>
            <a:r>
              <a:rPr sz="1300">
                <a:solidFill>
                  <a:srgbClr val="CBD5E1"/>
                </a:solidFill>
                <a:latin typeface="Meiryo"/>
              </a:rPr>
              <a:t/>
            </a:r>
          </a:p>
          <a:p>
            <a:pPr>
              <a:spcAft>
                <a:spcPts val="300"/>
              </a:spcAft>
            </a:pPr>
            <a:r>
              <a:rPr sz="1300">
                <a:solidFill>
                  <a:srgbClr val="CBD5E1"/>
                </a:solidFill>
                <a:latin typeface="Meiryo"/>
              </a:rPr>
              <a:t>5. オノマトペ系ネーミングがトレンド</a:t>
            </a:r>
          </a:p>
          <a:p>
            <a:pPr>
              <a:spcAft>
                <a:spcPts val="300"/>
              </a:spcAft>
            </a:pPr>
            <a:r>
              <a:rPr sz="1300">
                <a:solidFill>
                  <a:srgbClr val="CBD5E1"/>
                </a:solidFill>
                <a:latin typeface="Meiryo"/>
              </a:rPr>
              <a:t>     「もちゅ」「むちもっち」「ざくふにゅ」等で食感を訴求</a:t>
            </a:r>
          </a:p>
        </p:txBody>
      </p:sp>
      <p:sp>
        <p:nvSpPr>
          <p:cNvPr id="7" name="TextBox 6"/>
          <p:cNvSpPr txBox="1"/>
          <p:nvPr/>
        </p:nvSpPr>
        <p:spPr>
          <a:xfrm>
            <a:off x="1371600" y="6400800"/>
            <a:ext cx="9144000" cy="274320"/>
          </a:xfrm>
          <a:prstGeom prst="rect">
            <a:avLst/>
          </a:prstGeom>
          <a:noFill/>
        </p:spPr>
        <p:txBody>
          <a:bodyPr wrap="square">
            <a:spAutoFit/>
          </a:bodyPr>
          <a:lstStyle/>
          <a:p>
            <a:pPr algn="l"/>
            <a:r>
              <a:rPr sz="900" b="0">
                <a:solidFill>
                  <a:srgbClr val="94A3B8"/>
                </a:solidFill>
                <a:latin typeface="Meiryo"/>
              </a:rPr>
              <a:t>データソース：Yahoo!ニュース、カバヤ食品、明治公式サイト、ranking.net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