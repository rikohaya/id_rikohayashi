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FFFFFF"/>
                </a:solidFill>
                <a:latin typeface="Yu Gothic"/>
              </a:rPr>
              <a:t>シャトレーゼ</a:t>
            </a:r>
          </a:p>
          <a:p>
            <a:r>
              <a:rPr sz="3600">
                <a:solidFill>
                  <a:srgbClr val="FFFFFF"/>
                </a:solidFill>
                <a:latin typeface="Yu Gothic"/>
              </a:rPr>
              <a:t>インドネシア市場分析レポート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333333"/>
                </a:solidFill>
                <a:latin typeface="Yu Gothic"/>
              </a:rPr>
              <a:t>市場分析 → プレイヤー分析 → 顧客分析 → CEP分析 → 口コミ分析 → 統合戦略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666666"/>
                </a:solidFill>
                <a:latin typeface="Yu Gothic"/>
              </a:rPr>
              <a:t/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666666"/>
                </a:solidFill>
                <a:latin typeface="Yu Gothic"/>
              </a:rPr>
              <a:t>分析フレームワーク：市場 → プレイヤー（競合/自社） → 顧客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666666"/>
                </a:solidFill>
                <a:latin typeface="Yu Gothic"/>
              </a:rPr>
              <a:t>作成日：2026年2月5日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  <a:latin typeface="Yu Gothic"/>
              </a:rPr>
              <a:t>Confidential | Chateraise Indonesia Market Analysis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33333"/>
                </a:solidFill>
                <a:latin typeface="Yu Gothic"/>
              </a:rPr>
              <a:t>目次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66666"/>
                </a:solidFill>
                <a:latin typeface="Yu Gothic"/>
              </a:rPr>
              <a:t>Report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C41E3A"/>
                </a:solidFill>
                <a:latin typeface="Yu Gothi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2801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333333"/>
                </a:solidFill>
                <a:latin typeface="Yu Gothic"/>
              </a:rPr>
              <a:t>市場分析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307592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66666"/>
                </a:solidFill>
                <a:latin typeface="Yu Gothic"/>
              </a:rPr>
              <a:t>カテゴリ市場規模・成長ドライバー・消費者トレンド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20239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C41E3A"/>
                </a:solidFill>
                <a:latin typeface="Yu Gothic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20239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333333"/>
                </a:solidFill>
                <a:latin typeface="Yu Gothic"/>
              </a:rPr>
              <a:t>プレイヤー分析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1947671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66666"/>
                </a:solidFill>
                <a:latin typeface="Yu Gothic"/>
              </a:rPr>
              <a:t>主要7社の競合マップ・各社詳細・訴求比較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603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C41E3A"/>
                </a:solidFill>
                <a:latin typeface="Yu Gothic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560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333333"/>
                </a:solidFill>
                <a:latin typeface="Yu Gothic"/>
              </a:rPr>
              <a:t>シャトレーゼ現状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587751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66666"/>
                </a:solidFill>
                <a:latin typeface="Yu Gothic"/>
              </a:rPr>
              <a:t>基本情報・成功要因・SNSプレゼンス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200399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C41E3A"/>
                </a:solidFill>
                <a:latin typeface="Yu Gothic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00399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333333"/>
                </a:solidFill>
                <a:latin typeface="Yu Gothic"/>
              </a:rPr>
              <a:t>顧客分析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227831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66666"/>
                </a:solidFill>
                <a:latin typeface="Yu Gothic"/>
              </a:rPr>
              <a:t>ターゲット像・ニーズ・消費者行動・SNS利用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840479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C41E3A"/>
                </a:solidFill>
                <a:latin typeface="Yu Gothic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840479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333333"/>
                </a:solidFill>
                <a:latin typeface="Yu Gothic"/>
              </a:rPr>
              <a:t>SWOT分析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3867911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66666"/>
                </a:solidFill>
                <a:latin typeface="Yu Gothic"/>
              </a:rPr>
              <a:t>強み・弱み・機会・脅威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48056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C41E3A"/>
                </a:solidFill>
                <a:latin typeface="Yu Gothic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4805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333333"/>
                </a:solidFill>
                <a:latin typeface="Yu Gothic"/>
              </a:rPr>
              <a:t>CEP分析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4507992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66666"/>
                </a:solidFill>
                <a:latin typeface="Yu Gothic"/>
              </a:rPr>
              <a:t>12のCEP特定・言及率分析・メンタルアドバンテージ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1206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C41E3A"/>
                </a:solidFill>
                <a:latin typeface="Yu Gothic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1206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333333"/>
                </a:solidFill>
                <a:latin typeface="Yu Gothic"/>
              </a:rPr>
              <a:t>口コミ分析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5148072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66666"/>
                </a:solidFill>
                <a:latin typeface="Yu Gothic"/>
              </a:rPr>
              <a:t>TikTok 243件の頻出ワード・インサイト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760719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C41E3A"/>
                </a:solidFill>
                <a:latin typeface="Yu Gothic"/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760719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333333"/>
                </a:solidFill>
                <a:latin typeface="Yu Gothic"/>
              </a:rPr>
              <a:t>統合戦略提言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5788151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66666"/>
                </a:solidFill>
                <a:latin typeface="Yu Gothic"/>
              </a:rPr>
              <a:t>押し出すべき商品・訴求・アクションプラン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  <a:latin typeface="Yu Gothic"/>
              </a:rPr>
              <a:t>Confidential | Chateraise Indonesia Market Analysis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60175" y="62179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Yu Gothic"/>
              </a:rPr>
              <a:t>2 / 31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33333"/>
                </a:solidFill>
                <a:latin typeface="Yu Gothic"/>
              </a:rPr>
              <a:t>エグゼクティブサマリー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66666"/>
                </a:solidFill>
                <a:latin typeface="Yu Gothic"/>
              </a:rPr>
              <a:t>Executive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10515600" cy="1280160"/>
          </a:xfrm>
          <a:prstGeom prst="roundRect">
            <a:avLst/>
          </a:prstGeom>
          <a:solidFill>
            <a:srgbClr val="FD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C41E3A"/>
                </a:solidFill>
                <a:latin typeface="Yu Gothic"/>
              </a:rPr>
              <a:t>市場機会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Yu Gothic"/>
              </a:rPr>
              <a:t>インドネシア菓子・ベーカリー市場はUSD 23.8億（CAGR 3.25%）。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Yu Gothic"/>
              </a:rPr>
              <a:t>2億7,000万人の人口と拡大する中間層が成長を牽引。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834639"/>
            <a:ext cx="10515600" cy="1280160"/>
          </a:xfrm>
          <a:prstGeom prst="roundRect">
            <a:avLst/>
          </a:prstGeom>
          <a:solidFill>
            <a:srgbClr val="FD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C41E3A"/>
                </a:solidFill>
                <a:latin typeface="Yu Gothic"/>
              </a:rPr>
              <a:t>競合環境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Yu Gothic"/>
              </a:rPr>
              <a:t>ローカル老舗（Holland Bakery 470店）、プレミアム（The Harvest）、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Yu Gothic"/>
              </a:rPr>
              <a:t>韓国系（TLJ/PB）が存在。「日本品質」は競合不可侵の領域。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389120"/>
            <a:ext cx="10515600" cy="1280160"/>
          </a:xfrm>
          <a:prstGeom prst="roundRect">
            <a:avLst/>
          </a:prstGeom>
          <a:solidFill>
            <a:srgbClr val="FD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C41E3A"/>
                </a:solidFill>
                <a:latin typeface="Yu Gothic"/>
              </a:rPr>
              <a:t>戦略提言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Yu Gothic"/>
              </a:rPr>
              <a:t>「Mochi × 甘さ控えめ × 日本品質」を軸に展開。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Yu Gothic"/>
              </a:rPr>
              <a:t>ハラル認証の取得・訴求を急ぎ、2億人のムスリム市場にアクセス。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  <a:latin typeface="Yu Gothic"/>
              </a:rPr>
              <a:t>Confidential | Chateraise Indonesia Market Analysis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60175" y="62179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Yu Gothic"/>
              </a:rPr>
              <a:t>3 / 31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33333"/>
                </a:solidFill>
                <a:latin typeface="Yu Gothic"/>
              </a:rPr>
              <a:t>市場規模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66666"/>
                </a:solidFill>
                <a:latin typeface="Yu Gothic"/>
              </a:rPr>
              <a:t>Market Size — 菓子・ベーカリー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280160"/>
          <a:ext cx="10515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411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指標</a:t>
                      </a:r>
                    </a:p>
                  </a:txBody>
                  <a:tcPr anchor="ctr">
                    <a:solidFill>
                      <a:srgbClr val="C41E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数値</a:t>
                      </a:r>
                    </a:p>
                  </a:txBody>
                  <a:tcPr anchor="ctr">
                    <a:solidFill>
                      <a:srgbClr val="C41E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備考</a:t>
                      </a:r>
                    </a:p>
                  </a:txBody>
                  <a:tcPr anchor="ctr">
                    <a:solidFill>
                      <a:srgbClr val="C41E3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菓子市場規模（2024年）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USD 23.8億（約3,600億円）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予測市場規模（2033年）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USD 32.7億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CAGR 3.25%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ベーカリー市場規模（2025年）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USD 547億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CAGR 5.70%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ASEAN市場シェア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27.89%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ASEAN最大市場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チョコレート菓子シェア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市場の50%以上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最大カテゴリ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人口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約2億7,000万人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ASEAN最大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中間層比率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人口の約66%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総家計支出の81.49%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  <a:latin typeface="Yu Gothic"/>
              </a:rPr>
              <a:t>Confidential | Chateraise Indonesia Market Analysis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0175" y="62179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Yu Gothic"/>
              </a:rPr>
              <a:t>4 / 31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33333"/>
                </a:solidFill>
                <a:latin typeface="Yu Gothic"/>
              </a:rPr>
              <a:t>市場成長ドライバー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66666"/>
                </a:solidFill>
                <a:latin typeface="Yu Gothic"/>
              </a:rPr>
              <a:t>Growth Drivers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234439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333333"/>
                </a:solidFill>
                <a:latin typeface="Yu Gothic"/>
              </a:rPr>
              <a:t>中間層の拡大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60020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66666"/>
                </a:solidFill>
                <a:latin typeface="Yu Gothic"/>
              </a:rPr>
              <a:t>可処分所得の増加により、プレミアムスイーツ需要が拡大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240280"/>
            <a:ext cx="457200" cy="457200"/>
          </a:xfrm>
          <a:prstGeom prst="ellipse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19456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333333"/>
                </a:solidFill>
                <a:latin typeface="Yu Gothic"/>
              </a:rPr>
              <a:t>都市化の加速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5603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66666"/>
                </a:solidFill>
                <a:latin typeface="Yu Gothic"/>
              </a:rPr>
              <a:t>便利な食品・テイクアウト需要が増加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200400"/>
            <a:ext cx="457200" cy="457200"/>
          </a:xfrm>
          <a:prstGeom prst="ellipse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15468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333333"/>
                </a:solidFill>
                <a:latin typeface="Yu Gothic"/>
              </a:rPr>
              <a:t>食文化の西洋化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52044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66666"/>
                </a:solidFill>
                <a:latin typeface="Yu Gothic"/>
              </a:rPr>
              <a:t>カフェ文化・ベーカリー需要の浸透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160520"/>
            <a:ext cx="457200" cy="457200"/>
          </a:xfrm>
          <a:prstGeom prst="ellipse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11480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333333"/>
                </a:solidFill>
                <a:latin typeface="Yu Gothic"/>
              </a:rPr>
              <a:t>SNS・韓流の影響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48056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66666"/>
                </a:solidFill>
                <a:latin typeface="Yu Gothic"/>
              </a:rPr>
              <a:t>TikTok/Instagramでのスイーツブーム拡散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5120640"/>
            <a:ext cx="457200" cy="457200"/>
          </a:xfrm>
          <a:prstGeom prst="ellipse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50749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333333"/>
                </a:solidFill>
                <a:latin typeface="Yu Gothic"/>
              </a:rPr>
              <a:t>ギフト文化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5440679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66666"/>
                </a:solidFill>
                <a:latin typeface="Yu Gothic"/>
              </a:rPr>
              <a:t>ラマダン・クリスマス・旧正月の贈答需要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  <a:latin typeface="Yu Gothic"/>
              </a:rPr>
              <a:t>Confidential | Chateraise Indonesia Market Analysis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60175" y="62179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Yu Gothic"/>
              </a:rPr>
              <a:t>5 / 31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33333"/>
                </a:solidFill>
                <a:latin typeface="Yu Gothic"/>
              </a:rPr>
              <a:t>消費者トレンドの変化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66666"/>
                </a:solidFill>
                <a:latin typeface="Yu Gothic"/>
              </a:rPr>
              <a:t>Consumer Trends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5029200" cy="1828800"/>
          </a:xfrm>
          <a:prstGeom prst="roundRect">
            <a:avLst/>
          </a:prstGeom>
          <a:solidFill>
            <a:srgbClr val="FD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C41E3A"/>
                </a:solidFill>
                <a:latin typeface="Yu Gothic"/>
              </a:rPr>
              <a:t>健康志向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Yu Gothic"/>
              </a:rPr>
              <a:t>低糖・グルテンフリー需要の増加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Yu Gothic"/>
              </a:rPr>
              <a:t>ヘルスコンシャス層が拡大中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280160"/>
            <a:ext cx="5029200" cy="1828800"/>
          </a:xfrm>
          <a:prstGeom prst="roundRect">
            <a:avLst/>
          </a:prstGeom>
          <a:solidFill>
            <a:srgbClr val="FD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C41E3A"/>
                </a:solidFill>
                <a:latin typeface="Yu Gothic"/>
              </a:rPr>
              <a:t>プレミアム志向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Yu Gothic"/>
              </a:rPr>
              <a:t>プレミアム・グルメスイーツへの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Yu Gothic"/>
              </a:rPr>
              <a:t>支出意欲が高まっている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566160"/>
            <a:ext cx="5029200" cy="1828800"/>
          </a:xfrm>
          <a:prstGeom prst="roundRect">
            <a:avLst/>
          </a:prstGeom>
          <a:solidFill>
            <a:srgbClr val="FD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C41E3A"/>
                </a:solidFill>
                <a:latin typeface="Yu Gothic"/>
              </a:rPr>
              <a:t>オンライン購買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Yu Gothic"/>
              </a:rPr>
              <a:t>EC/デリバリー経由の購買が急成長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Yu Gothic"/>
              </a:rPr>
              <a:t>CAGR 11.49%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566160"/>
            <a:ext cx="5029200" cy="1828800"/>
          </a:xfrm>
          <a:prstGeom prst="roundRect">
            <a:avLst/>
          </a:prstGeom>
          <a:solidFill>
            <a:srgbClr val="FD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C41E3A"/>
                </a:solidFill>
                <a:latin typeface="Yu Gothic"/>
              </a:rPr>
              <a:t>コンビニエンス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Yu Gothic"/>
              </a:rPr>
              <a:t>シングルサーブ、ポーション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Yu Gothic"/>
              </a:rPr>
              <a:t>コントロール商品の需要増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666666"/>
                </a:solidFill>
                <a:latin typeface="Yu Gothic"/>
              </a:rPr>
              <a:t>注意: 41%の消費者が支出に慎重（節約志向）。インフレ圧力による原材料コスト上昇リスクあり。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  <a:latin typeface="Yu Gothic"/>
              </a:rPr>
              <a:t>Confidential | Chateraise Indonesia Market Analysis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60175" y="62179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Yu Gothic"/>
              </a:rPr>
              <a:t>6 / 31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33333"/>
                </a:solidFill>
                <a:latin typeface="Yu Gothic"/>
              </a:rPr>
              <a:t>主要プレイヤー一覧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66666"/>
                </a:solidFill>
                <a:latin typeface="Yu Gothic"/>
              </a:rPr>
              <a:t>Key Players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0972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411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ブランド</a:t>
                      </a:r>
                    </a:p>
                  </a:txBody>
                  <a:tcPr anchor="ctr">
                    <a:solidFill>
                      <a:srgbClr val="C41E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出自</a:t>
                      </a:r>
                    </a:p>
                  </a:txBody>
                  <a:tcPr anchor="ctr">
                    <a:solidFill>
                      <a:srgbClr val="C41E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店舗数</a:t>
                      </a:r>
                    </a:p>
                  </a:txBody>
                  <a:tcPr anchor="ctr">
                    <a:solidFill>
                      <a:srgbClr val="C41E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特徴</a:t>
                      </a:r>
                    </a:p>
                  </a:txBody>
                  <a:tcPr anchor="ctr">
                    <a:solidFill>
                      <a:srgbClr val="C41E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動向</a:t>
                      </a:r>
                    </a:p>
                  </a:txBody>
                  <a:tcPr anchor="ctr">
                    <a:solidFill>
                      <a:srgbClr val="C41E3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シャトレーゼ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日本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約40→450目標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日本品質・手頃な価格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急増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Holland Bakery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インドネシア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470店舗以上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老舗ローカル、幅広い品揃え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維持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The Harvest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インドネシア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130店舗以上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高級洋菓子、幅広い認知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維持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Tous les Jours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韓国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52店舗以上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韓流人気、ハラル認証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増加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Paris Baguette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韓国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急成長中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K-POPブーム・若者人気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急増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Mako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シンガポール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約30店舗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日本風パン・スイーツ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維持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Dapur Cokelat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インドネシア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36店舗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チョコレート特化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維持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  <a:latin typeface="Yu Gothic"/>
              </a:rPr>
              <a:t>Confidential | Chateraise Indonesia Market Analysis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0175" y="62179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Yu Gothic"/>
              </a:rPr>
              <a:t>7 / 31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33333"/>
                </a:solidFill>
                <a:latin typeface="Yu Gothic"/>
              </a:rPr>
              <a:t>ポジショニングマップ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66666"/>
                </a:solidFill>
                <a:latin typeface="Yu Gothic"/>
              </a:rPr>
              <a:t>Positioning Map — 価格 × ブランド感</a:t>
            </a:r>
          </a:p>
        </p:txBody>
      </p:sp>
      <p:sp>
        <p:nvSpPr>
          <p:cNvPr id="5" name="Rectangle 4"/>
          <p:cNvSpPr/>
          <p:nvPr/>
        </p:nvSpPr>
        <p:spPr>
          <a:xfrm>
            <a:off x="5934456" y="-457200"/>
            <a:ext cx="18288" cy="8229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0" y="3648456"/>
            <a:ext cx="8229600" cy="1828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0" y="-731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66666"/>
                </a:solidFill>
                <a:latin typeface="Yu Gothic"/>
              </a:rPr>
              <a:t>高価格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78181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66666"/>
                </a:solidFill>
                <a:latin typeface="Yu Gothic"/>
              </a:rPr>
              <a:t>低価格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204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66666"/>
                </a:solidFill>
                <a:latin typeface="Yu Gothic"/>
              </a:rPr>
              <a:t>ローカル感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0" y="35204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66666"/>
                </a:solidFill>
                <a:latin typeface="Yu Gothic"/>
              </a:rPr>
              <a:t>海外ブランド感</a:t>
            </a:r>
          </a:p>
        </p:txBody>
      </p:sp>
      <p:sp>
        <p:nvSpPr>
          <p:cNvPr id="11" name="Oval 10"/>
          <p:cNvSpPr/>
          <p:nvPr/>
        </p:nvSpPr>
        <p:spPr>
          <a:xfrm>
            <a:off x="6217920" y="914400"/>
            <a:ext cx="182880" cy="182880"/>
          </a:xfrm>
          <a:prstGeom prst="ellipse">
            <a:avLst/>
          </a:prstGeom>
          <a:solidFill>
            <a:srgbClr val="9B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8686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9B172E"/>
                </a:solidFill>
                <a:latin typeface="Yu Gothic"/>
              </a:rPr>
              <a:t>The Harvest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0" y="2286000"/>
            <a:ext cx="182880" cy="182880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22402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66666"/>
                </a:solidFill>
                <a:latin typeface="Yu Gothic"/>
              </a:rPr>
              <a:t>Paris Baguette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0" y="2926080"/>
            <a:ext cx="182880" cy="182880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1000" y="28803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66666"/>
                </a:solidFill>
                <a:latin typeface="Yu Gothic"/>
              </a:rPr>
              <a:t>Tous les Jours</a:t>
            </a:r>
          </a:p>
        </p:txBody>
      </p:sp>
      <p:sp>
        <p:nvSpPr>
          <p:cNvPr id="17" name="Oval 16"/>
          <p:cNvSpPr/>
          <p:nvPr/>
        </p:nvSpPr>
        <p:spPr>
          <a:xfrm>
            <a:off x="3200400" y="5029200"/>
            <a:ext cx="182880" cy="182880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29000" y="49834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66666"/>
                </a:solidFill>
                <a:latin typeface="Yu Gothic"/>
              </a:rPr>
              <a:t>Holland Bakery</a:t>
            </a:r>
          </a:p>
        </p:txBody>
      </p:sp>
      <p:sp>
        <p:nvSpPr>
          <p:cNvPr id="19" name="Oval 18"/>
          <p:cNvSpPr/>
          <p:nvPr/>
        </p:nvSpPr>
        <p:spPr>
          <a:xfrm>
            <a:off x="6858000" y="5029200"/>
            <a:ext cx="182880" cy="182880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6600" y="49834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66666"/>
                </a:solidFill>
                <a:latin typeface="Yu Gothic"/>
              </a:rPr>
              <a:t>Dapur Cokelat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0" y="5943600"/>
            <a:ext cx="182880" cy="182880"/>
          </a:xfrm>
          <a:prstGeom prst="ellipse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1000" y="58978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41E3A"/>
                </a:solidFill>
                <a:latin typeface="Yu Gothic"/>
              </a:rPr>
              <a:t>★ シャトレーゼ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1264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666666"/>
                </a:solidFill>
                <a:latin typeface="Yu Gothic"/>
              </a:rPr>
              <a:t>シャトレーゼの目指すポジション: 海外ブランド感 × 低価格（日本品質 × 手頃な価格）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  <a:latin typeface="Yu Gothic"/>
              </a:rPr>
              <a:t>Confidential | Chateraise Indonesia Market Analysis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60175" y="62179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Yu Gothic"/>
              </a:rPr>
              <a:t>8 / 31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33333"/>
                </a:solidFill>
                <a:latin typeface="Yu Gothic"/>
              </a:rPr>
              <a:t>Holland Bakery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66666"/>
                </a:solidFill>
                <a:latin typeface="Yu Gothic"/>
              </a:rPr>
              <a:t>インドネシア老舗 — 圧倒的店舗網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280160"/>
          <a:ext cx="10515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 anchor="ctr">
                    <a:solidFill>
                      <a:srgbClr val="C41E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 anchor="ctr">
                    <a:solidFill>
                      <a:srgbClr val="C41E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タグライン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「Teratas dalam kualitas」（品質でNo.1）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ポジショニング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ローカル老舗だが西洋風イメージ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強み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1978年創業の信頼、全国546店舗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価格帯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中〜低価格（庶民派）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訴求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健康的・栄養価が高い・手頃な価格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4572000"/>
            <a:ext cx="10515600" cy="914400"/>
          </a:xfrm>
          <a:prstGeom prst="roundRect">
            <a:avLst/>
          </a:prstGeom>
          <a:solidFill>
            <a:srgbClr val="FD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C41E3A"/>
                </a:solidFill>
                <a:latin typeface="Yu Gothic"/>
              </a:rPr>
              <a:t>SNSマーケティング施策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Yu Gothic"/>
              </a:rPr>
              <a:t>TikTok約7万フォロワー / 祝日連動プロモ / #hollandbakery 1,870万投稿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  <a:latin typeface="Yu Gothic"/>
              </a:rPr>
              <a:t>Confidential | Chateraise Indonesia Market Analysis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60175" y="62179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Yu Gothic"/>
              </a:rPr>
              <a:t>9 / 31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33333"/>
                </a:solidFill>
                <a:latin typeface="Yu Gothic"/>
              </a:rPr>
              <a:t>The Harvest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66666"/>
                </a:solidFill>
                <a:latin typeface="Yu Gothic"/>
              </a:rPr>
              <a:t>ローカルプレミアム — 値引きしないブランド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280160"/>
          <a:ext cx="10515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 anchor="ctr">
                    <a:solidFill>
                      <a:srgbClr val="C41E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 anchor="ctr">
                    <a:solidFill>
                      <a:srgbClr val="C41E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コンセプト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「Fashionably Delicious」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ポジショニング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欧州品質のプレミアムケーキ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強み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フォーシーズンズ出身シェフ創業・欧州直輸入原材料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価格帯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高価格（プレミアム）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訴求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ギフト需要、特別な日の演出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4572000"/>
            <a:ext cx="10515600" cy="914400"/>
          </a:xfrm>
          <a:prstGeom prst="roundRect">
            <a:avLst/>
          </a:prstGeom>
          <a:solidFill>
            <a:srgbClr val="FD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C41E3A"/>
                </a:solidFill>
                <a:latin typeface="Yu Gothic"/>
              </a:rPr>
              <a:t>SNSマーケティング施策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Yu Gothic"/>
              </a:rPr>
              <a:t>インフルエンサー/セレブコラボ / 基本ディスカウントなし / バイラル商品の迅速メニュー化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  <a:latin typeface="Yu Gothic"/>
              </a:rPr>
              <a:t>Confidential | Chateraise Indonesia Market Analysis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60175" y="62179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Yu Gothic"/>
              </a:rPr>
              <a:t>10 / 31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33333"/>
                </a:solidFill>
                <a:latin typeface="Yu Gothic"/>
              </a:rPr>
              <a:t>Tous les Jours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66666"/>
                </a:solidFill>
                <a:latin typeface="Yu Gothic"/>
              </a:rPr>
              <a:t>韓国系 — K-POP人気×ハラル認証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280160"/>
          <a:ext cx="10515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 anchor="ctr">
                    <a:solidFill>
                      <a:srgbClr val="C41E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 anchor="ctr">
                    <a:solidFill>
                      <a:srgbClr val="C41E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コンセプト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「The 1st South Korean Bakery &amp; Cafe in Indonesia」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ポジショニング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韓国体験の提供、フレンチ×アジアン融合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強み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K-POP人気との連動、ハラル認証取得（2020年）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価格帯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中〜高価格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訴求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韓流ファン層への訴求、ハラル対応の安心感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4572000"/>
            <a:ext cx="10515600" cy="914400"/>
          </a:xfrm>
          <a:prstGeom prst="roundRect">
            <a:avLst/>
          </a:prstGeom>
          <a:solidFill>
            <a:srgbClr val="FD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C41E3A"/>
                </a:solidFill>
                <a:latin typeface="Yu Gothic"/>
              </a:rPr>
              <a:t>SNSマーケティング施策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Yu Gothic"/>
              </a:rPr>
              <a:t>Instagram 30.7万フォロワー（競合最大）/ OVO連携20%キャッシュバック / 季節キャンペーン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  <a:latin typeface="Yu Gothic"/>
              </a:rPr>
              <a:t>Confidential | Chateraise Indonesia Market Analysis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60175" y="62179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Yu Gothic"/>
              </a:rPr>
              <a:t>11 / 31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33333"/>
                </a:solidFill>
                <a:latin typeface="Yu Gothic"/>
              </a:rPr>
              <a:t>Paris Baguette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66666"/>
                </a:solidFill>
                <a:latin typeface="Yu Gothic"/>
              </a:rPr>
              <a:t>韓国系・新規参入 — グローバル展開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280160"/>
          <a:ext cx="10515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 anchor="ctr">
                    <a:solidFill>
                      <a:srgbClr val="C41E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 anchor="ctr">
                    <a:solidFill>
                      <a:srgbClr val="C41E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コンセプト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「Premium Fast-Casual Bakery-Café」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ポジショニング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グローバルブランド、トレンド感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強み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世界4,000店舗のスケール・毎日焼き上げ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価格帯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中〜高価格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訴求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ビジネス層ターゲット、インドネシア限定メニュー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4572000"/>
            <a:ext cx="10515600" cy="914400"/>
          </a:xfrm>
          <a:prstGeom prst="roundRect">
            <a:avLst/>
          </a:prstGeom>
          <a:solidFill>
            <a:srgbClr val="FD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C41E3A"/>
                </a:solidFill>
                <a:latin typeface="Yu Gothic"/>
              </a:rPr>
              <a:t>SNSマーケティング施策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Yu Gothic"/>
              </a:rPr>
              <a:t>グランドオープンイベント話題化 / KOL活用 / 銀行・モール連携プロモーション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  <a:latin typeface="Yu Gothic"/>
              </a:rPr>
              <a:t>Confidential | Chateraise Indonesia Market Analysis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60175" y="62179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Yu Gothic"/>
              </a:rPr>
              <a:t>12 / 31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33333"/>
                </a:solidFill>
                <a:latin typeface="Yu Gothic"/>
              </a:rPr>
              <a:t>競合訴求比較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66666"/>
                </a:solidFill>
                <a:latin typeface="Yu Gothic"/>
              </a:rPr>
              <a:t>Competitive Messaging Comparison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09728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5029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ブランド</a:t>
                      </a:r>
                    </a:p>
                  </a:txBody>
                  <a:tcPr anchor="ctr">
                    <a:solidFill>
                      <a:srgbClr val="C41E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主な訴求</a:t>
                      </a:r>
                    </a:p>
                  </a:txBody>
                  <a:tcPr anchor="ctr">
                    <a:solidFill>
                      <a:srgbClr val="C41E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ターゲット</a:t>
                      </a:r>
                    </a:p>
                  </a:txBody>
                  <a:tcPr anchor="ctr">
                    <a:solidFill>
                      <a:srgbClr val="C41E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差別化ポイント</a:t>
                      </a:r>
                    </a:p>
                  </a:txBody>
                  <a:tcPr anchor="ctr">
                    <a:solidFill>
                      <a:srgbClr val="C41E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Holland Bakery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ローカル老舗×西洋風品質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幅広い層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圧倒的店舗網、庶民派価格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The Harvest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プレミアム欧州品質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富裕層・ギフト需要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値引きしないブランド戦略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Tous les Jours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韓国×ハラル認証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K-POP好き・若者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ハラル認証、30万フォロワー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Paris Baguette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トレンド×利便性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ビジネス層・若者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グランドオープンの話題化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Dapur Cokelat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チョコレート専門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中間層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ニッチポジション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4754880"/>
            <a:ext cx="10515600" cy="731520"/>
          </a:xfrm>
          <a:prstGeom prst="roundRect">
            <a:avLst/>
          </a:prstGeom>
          <a:solidFill>
            <a:srgbClr val="FD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C41E3A"/>
                </a:solidFill>
                <a:latin typeface="Yu Gothic"/>
              </a:rPr>
              <a:t>シャトレーゼの差別化ポジション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Yu Gothic"/>
              </a:rPr>
              <a:t>「日本品質 × 手頃な価格 × 甘さ控えめ」— 競合が参入できない独自領域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  <a:latin typeface="Yu Gothic"/>
              </a:rPr>
              <a:t>Confidential | Chateraise Indonesia Market Analysis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60175" y="62179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Yu Gothic"/>
              </a:rPr>
              <a:t>13 / 31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33333"/>
                </a:solidFill>
                <a:latin typeface="Yu Gothic"/>
              </a:rPr>
              <a:t>シャトレーゼ現状分析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66666"/>
                </a:solidFill>
                <a:latin typeface="Yu Gothic"/>
              </a:rPr>
              <a:t>Chateraise — Current Status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280160"/>
          <a:ext cx="6400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 anchor="ctr">
                    <a:solidFill>
                      <a:srgbClr val="C41E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 anchor="ctr">
                    <a:solidFill>
                      <a:srgbClr val="C41E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参入時期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2017年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合弁パートナー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Gobelグループ（PT Chateraise Gobel Indonesia）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現在店舗数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約40店舗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目標店舗数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450店舗（2025年度末）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工場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ボゴール工場（2022年稼働）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新工場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ブカシ新工場（2026年稼働予定、現工場の9倍規模）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現在の訴求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「#DirectlyFromJapan」（日本直輸入）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589520" y="1280160"/>
            <a:ext cx="3657600" cy="1828800"/>
          </a:xfrm>
          <a:prstGeom prst="roundRect">
            <a:avLst/>
          </a:prstGeom>
          <a:solidFill>
            <a:srgbClr val="FD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C41E3A"/>
                </a:solidFill>
                <a:latin typeface="Yu Gothic"/>
              </a:rPr>
              <a:t>SNSプレゼンス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Yu Gothic"/>
              </a:rPr>
              <a:t>Instagram: @chateraise.id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Yu Gothic"/>
              </a:rPr>
              <a:t>TikTok: @chateraise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Yu Gothic"/>
              </a:rPr>
              <a:t>YouTube: 運用中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3474720"/>
            <a:ext cx="3657600" cy="1371600"/>
          </a:xfrm>
          <a:prstGeom prst="roundRect">
            <a:avLst/>
          </a:prstGeom>
          <a:solidFill>
            <a:srgbClr val="FD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C41E3A"/>
                </a:solidFill>
                <a:latin typeface="Yu Gothic"/>
              </a:rPr>
              <a:t>Key Metric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Yu Gothic"/>
              </a:rPr>
              <a:t>40店舗 → 450店舗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Yu Gothic"/>
              </a:rPr>
              <a:t>約11倍の拡大計画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  <a:latin typeface="Yu Gothic"/>
              </a:rPr>
              <a:t>Confidential | Chateraise Indonesia Market Analysis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60175" y="62179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Yu Gothic"/>
              </a:rPr>
              <a:t>14 / 31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33333"/>
                </a:solidFill>
                <a:latin typeface="Yu Gothic"/>
              </a:rPr>
              <a:t>シャトレーゼ 5つの強み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66666"/>
                </a:solidFill>
                <a:latin typeface="Yu Gothic"/>
              </a:rPr>
              <a:t>Key Success Factors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3474720" cy="2011680"/>
          </a:xfrm>
          <a:prstGeom prst="roundRect">
            <a:avLst/>
          </a:prstGeom>
          <a:solidFill>
            <a:srgbClr val="FD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C41E3A"/>
                </a:solidFill>
                <a:latin typeface="Yu Gothic"/>
              </a:rPr>
              <a:t>1. 日本ブランドへの信頼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Yu Gothic"/>
              </a:rPr>
              <a:t>品質・安全性で高い評価。「日本製」は競合が真似できない。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280160"/>
            <a:ext cx="3474720" cy="2011680"/>
          </a:xfrm>
          <a:prstGeom prst="roundRect">
            <a:avLst/>
          </a:prstGeom>
          <a:solidFill>
            <a:srgbClr val="FD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C41E3A"/>
                </a:solidFill>
                <a:latin typeface="Yu Gothic"/>
              </a:rPr>
              <a:t>2. 甘さ控えめ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Yu Gothic"/>
              </a:rPr>
              <a:t>健康志向の若者・中間層に刺さる差別化要素。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280160"/>
            <a:ext cx="3474720" cy="2011680"/>
          </a:xfrm>
          <a:prstGeom prst="roundRect">
            <a:avLst/>
          </a:prstGeom>
          <a:solidFill>
            <a:srgbClr val="FD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C41E3A"/>
                </a:solidFill>
                <a:latin typeface="Yu Gothic"/>
              </a:rPr>
              <a:t>3. ハイイメージ × ローコスト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Yu Gothic"/>
              </a:rPr>
              <a:t>同等品質を競合より安く提供する価格戦略。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840479"/>
            <a:ext cx="3474720" cy="2011680"/>
          </a:xfrm>
          <a:prstGeom prst="roundRect">
            <a:avLst/>
          </a:prstGeom>
          <a:solidFill>
            <a:srgbClr val="FD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C41E3A"/>
                </a:solidFill>
                <a:latin typeface="Yu Gothic"/>
              </a:rPr>
              <a:t>4. 現地生産による価格競争力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Yu Gothic"/>
              </a:rPr>
              <a:t>Rp 25,000 → Rp 15,000以下への引き下げが可能。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3840479"/>
            <a:ext cx="3474720" cy="2011680"/>
          </a:xfrm>
          <a:prstGeom prst="roundRect">
            <a:avLst/>
          </a:prstGeom>
          <a:solidFill>
            <a:srgbClr val="FD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C41E3A"/>
                </a:solidFill>
                <a:latin typeface="Yu Gothic"/>
              </a:rPr>
              <a:t>5. カカオ農家支援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Yu Gothic"/>
              </a:rPr>
              <a:t>サステナビリティ訴求で原料調達安定化も実現。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  <a:latin typeface="Yu Gothic"/>
              </a:rPr>
              <a:t>Confidential | Chateraise Indonesia Market Analysis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60175" y="62179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Yu Gothic"/>
              </a:rPr>
              <a:t>15 / 31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33333"/>
                </a:solidFill>
                <a:latin typeface="Yu Gothic"/>
              </a:rPr>
              <a:t>ターゲット顧客セグメント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66666"/>
                </a:solidFill>
                <a:latin typeface="Yu Gothic"/>
              </a:rPr>
              <a:t>Target Customer Segments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2560320" cy="3200400"/>
          </a:xfrm>
          <a:prstGeom prst="round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74320"/>
          <a:lstStyle/>
          <a:p>
            <a:pPr algn="ctr">
              <a:spcAft>
                <a:spcPts val="1200"/>
              </a:spcAft>
            </a:pPr>
            <a:r>
              <a:rPr sz="1600" b="1">
                <a:solidFill>
                  <a:srgbClr val="FFFFFF"/>
                </a:solidFill>
                <a:latin typeface="Yu Gothic"/>
              </a:rPr>
              <a:t>メインターゲット</a:t>
            </a:r>
          </a:p>
          <a:p>
            <a:r>
              <a:rPr sz="1300">
                <a:solidFill>
                  <a:srgbClr val="FFFFFF"/>
                </a:solidFill>
                <a:latin typeface="Yu Gothic"/>
              </a:rPr>
              <a:t>都市部在住の20-40代、中間層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371600"/>
            <a:ext cx="2560320" cy="3200400"/>
          </a:xfrm>
          <a:prstGeom prst="roundRect">
            <a:avLst/>
          </a:prstGeom>
          <a:solidFill>
            <a:srgbClr val="FD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74320"/>
          <a:lstStyle/>
          <a:p>
            <a:pPr algn="ctr">
              <a:spcAft>
                <a:spcPts val="1200"/>
              </a:spcAft>
            </a:pPr>
            <a:r>
              <a:rPr sz="1600" b="1">
                <a:solidFill>
                  <a:srgbClr val="333333"/>
                </a:solidFill>
                <a:latin typeface="Yu Gothic"/>
              </a:rPr>
              <a:t>サブターゲット1</a:t>
            </a:r>
          </a:p>
          <a:p>
            <a:r>
              <a:rPr sz="1300">
                <a:solidFill>
                  <a:srgbClr val="666666"/>
                </a:solidFill>
                <a:latin typeface="Yu Gothic"/>
              </a:rPr>
              <a:t>日本文化に好意的な層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2560320" cy="3200400"/>
          </a:xfrm>
          <a:prstGeom prst="roundRect">
            <a:avLst/>
          </a:prstGeom>
          <a:solidFill>
            <a:srgbClr val="FD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74320"/>
          <a:lstStyle/>
          <a:p>
            <a:pPr algn="ctr">
              <a:spcAft>
                <a:spcPts val="1200"/>
              </a:spcAft>
            </a:pPr>
            <a:r>
              <a:rPr sz="1600" b="1">
                <a:solidFill>
                  <a:srgbClr val="333333"/>
                </a:solidFill>
                <a:latin typeface="Yu Gothic"/>
              </a:rPr>
              <a:t>サブターゲット2</a:t>
            </a:r>
          </a:p>
          <a:p>
            <a:r>
              <a:rPr sz="1300">
                <a:solidFill>
                  <a:srgbClr val="666666"/>
                </a:solidFill>
                <a:latin typeface="Yu Gothic"/>
              </a:rPr>
              <a:t>健康志向の若者（甘さ控えめ需要）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371600"/>
            <a:ext cx="2560320" cy="3200400"/>
          </a:xfrm>
          <a:prstGeom prst="roundRect">
            <a:avLst/>
          </a:prstGeom>
          <a:solidFill>
            <a:srgbClr val="FD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274320"/>
          <a:lstStyle/>
          <a:p>
            <a:pPr algn="ctr">
              <a:spcAft>
                <a:spcPts val="1200"/>
              </a:spcAft>
            </a:pPr>
            <a:r>
              <a:rPr sz="1600" b="1">
                <a:solidFill>
                  <a:srgbClr val="333333"/>
                </a:solidFill>
                <a:latin typeface="Yu Gothic"/>
              </a:rPr>
              <a:t>サブターゲット3</a:t>
            </a:r>
          </a:p>
          <a:p>
            <a:r>
              <a:rPr sz="1300">
                <a:solidFill>
                  <a:srgbClr val="666666"/>
                </a:solidFill>
                <a:latin typeface="Yu Gothic"/>
              </a:rPr>
              <a:t>ギフト購入層（ラマダン、記念日）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  <a:latin typeface="Yu Gothic"/>
              </a:rPr>
              <a:t>Confidential | Chateraise Indonesia Market Analysis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60175" y="62179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Yu Gothic"/>
              </a:rPr>
              <a:t>16 / 31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33333"/>
                </a:solidFill>
                <a:latin typeface="Yu Gothic"/>
              </a:rPr>
              <a:t>顧客ニーズ 7カテゴリ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66666"/>
                </a:solidFill>
                <a:latin typeface="Yu Gothic"/>
              </a:rPr>
              <a:t>Customer Needs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280160"/>
          <a:ext cx="105156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5029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ニーズカテゴリ</a:t>
                      </a:r>
                    </a:p>
                  </a:txBody>
                  <a:tcPr anchor="ctr">
                    <a:solidFill>
                      <a:srgbClr val="C41E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詳細</a:t>
                      </a:r>
                    </a:p>
                  </a:txBody>
                  <a:tcPr anchor="ctr">
                    <a:solidFill>
                      <a:srgbClr val="C41E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品質・安全性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日本製・海外ブランドへの信頼感、原材料の安心感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味の好み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甘すぎないスイーツ、多様なフレーバー体験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価格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手頃な価格でプレミアム感を得たい（コスパ重視）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利便性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モール内立地、オンライン購入・デリバリー対応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体験価値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SNS映え、ギフト需要、特別な日の演出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健康志向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低糖、グルテンフリー、添加物への配慮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宗教対応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ハラル認証への期待（ムスリム人口2億人超）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  <a:latin typeface="Yu Gothic"/>
              </a:rPr>
              <a:t>Confidential | Chateraise Indonesia Market Analysis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0175" y="62179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Yu Gothic"/>
              </a:rPr>
              <a:t>17 / 31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33333"/>
                </a:solidFill>
                <a:latin typeface="Yu Gothic"/>
              </a:rPr>
              <a:t>消費者行動の変化（2024年）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66666"/>
                </a:solidFill>
                <a:latin typeface="Yu Gothic"/>
              </a:rPr>
              <a:t>Consumer Behavior Shifts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256032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0"/>
          <a:lstStyle/>
          <a:p>
            <a:pPr algn="ctr">
              <a:spcAft>
                <a:spcPts val="1200"/>
              </a:spcAft>
            </a:pPr>
            <a:r>
              <a:rPr sz="4200" b="1">
                <a:solidFill>
                  <a:srgbClr val="C41E3A"/>
                </a:solidFill>
                <a:latin typeface="Yu Gothic"/>
              </a:rPr>
              <a:t>41%</a:t>
            </a:r>
          </a:p>
          <a:p>
            <a:pPr algn="ctr"/>
            <a:r>
              <a:rPr sz="1300">
                <a:solidFill>
                  <a:srgbClr val="333333"/>
                </a:solidFill>
                <a:latin typeface="Yu Gothic"/>
              </a:rPr>
              <a:t>が支出に慎重
（節約志向の高まり）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371600"/>
            <a:ext cx="256032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0"/>
          <a:lstStyle/>
          <a:p>
            <a:pPr algn="ctr">
              <a:spcAft>
                <a:spcPts val="1200"/>
              </a:spcAft>
            </a:pPr>
            <a:r>
              <a:rPr sz="4200" b="1">
                <a:solidFill>
                  <a:srgbClr val="C41E3A"/>
                </a:solidFill>
                <a:latin typeface="Yu Gothic"/>
              </a:rPr>
              <a:t>58%</a:t>
            </a:r>
          </a:p>
          <a:p>
            <a:pPr algn="ctr"/>
            <a:r>
              <a:rPr sz="1300">
                <a:solidFill>
                  <a:srgbClr val="333333"/>
                </a:solidFill>
                <a:latin typeface="Yu Gothic"/>
              </a:rPr>
              <a:t>が特別な日には
支出を惜しまない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256032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0"/>
          <a:lstStyle/>
          <a:p>
            <a:pPr algn="ctr">
              <a:spcAft>
                <a:spcPts val="1200"/>
              </a:spcAft>
            </a:pPr>
            <a:r>
              <a:rPr sz="4200" b="1">
                <a:solidFill>
                  <a:srgbClr val="C41E3A"/>
                </a:solidFill>
                <a:latin typeface="Yu Gothic"/>
              </a:rPr>
              <a:t>64%</a:t>
            </a:r>
          </a:p>
          <a:p>
            <a:pPr algn="ctr"/>
            <a:r>
              <a:rPr sz="1300">
                <a:solidFill>
                  <a:srgbClr val="333333"/>
                </a:solidFill>
                <a:latin typeface="Yu Gothic"/>
              </a:rPr>
              <a:t>が自宅での体験を好む
（外食→中食シフト）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371600"/>
            <a:ext cx="256032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0"/>
          <a:lstStyle/>
          <a:p>
            <a:pPr algn="ctr">
              <a:spcAft>
                <a:spcPts val="1200"/>
              </a:spcAft>
            </a:pPr>
            <a:r>
              <a:rPr sz="4200" b="1">
                <a:solidFill>
                  <a:srgbClr val="C41E3A"/>
                </a:solidFill>
                <a:latin typeface="Yu Gothic"/>
              </a:rPr>
              <a:t>57%</a:t>
            </a:r>
          </a:p>
          <a:p>
            <a:pPr algn="ctr"/>
            <a:r>
              <a:rPr sz="1300">
                <a:solidFill>
                  <a:srgbClr val="333333"/>
                </a:solidFill>
                <a:latin typeface="Yu Gothic"/>
              </a:rPr>
              <a:t>が使いやすい商品
フォーマットを選好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  <a:latin typeface="Yu Gothic"/>
              </a:rPr>
              <a:t>Confidential | Chateraise Indonesia Market Analysis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60175" y="62179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Yu Gothic"/>
              </a:rPr>
              <a:t>18 / 31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33333"/>
                </a:solidFill>
                <a:latin typeface="Yu Gothic"/>
              </a:rPr>
              <a:t>SNS利用状況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66666"/>
                </a:solidFill>
                <a:latin typeface="Yu Gothic"/>
              </a:rPr>
              <a:t>Social Media Landscape in Indonesia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280160"/>
          <a:ext cx="640080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プラットフォーム</a:t>
                      </a:r>
                    </a:p>
                  </a:txBody>
                  <a:tcPr anchor="ctr">
                    <a:solidFill>
                      <a:srgbClr val="C41E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利用率</a:t>
                      </a:r>
                    </a:p>
                  </a:txBody>
                  <a:tcPr anchor="ctr">
                    <a:solidFill>
                      <a:srgbClr val="C41E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特徴</a:t>
                      </a:r>
                    </a:p>
                  </a:txBody>
                  <a:tcPr anchor="ctr">
                    <a:solidFill>
                      <a:srgbClr val="C41E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WhatsApp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91.7%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コミュニケーション中心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Instagram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84.6%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ブランド構築・ビジュアル訴求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Facebook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83.0%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幅広い年齢層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TikTok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77.4%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バイラル狙い・若年層リーチ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589520" y="1280160"/>
            <a:ext cx="3657600" cy="1645920"/>
          </a:xfrm>
          <a:prstGeom prst="roundRect">
            <a:avLst/>
          </a:prstGeom>
          <a:solidFill>
            <a:srgbClr val="FD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C41E3A"/>
                </a:solidFill>
                <a:latin typeface="Yu Gothic"/>
              </a:rPr>
              <a:t>Key Data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Yu Gothic"/>
              </a:rPr>
              <a:t>1日あたりSNS利用時間: 3時間8分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Yu Gothic"/>
              </a:rPr>
              <a:t>月間TikTok利用時間: 平均30.8時間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3291840"/>
            <a:ext cx="3657600" cy="1828800"/>
          </a:xfrm>
          <a:prstGeom prst="roundRect">
            <a:avLst/>
          </a:prstGeom>
          <a:solidFill>
            <a:srgbClr val="FD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C41E3A"/>
                </a:solidFill>
                <a:latin typeface="Yu Gothic"/>
              </a:rPr>
              <a:t>人気コンテンツ TOP3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Yu Gothic"/>
              </a:rPr>
              <a:t>1. エンターテインメント（76%）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Yu Gothic"/>
              </a:rPr>
              <a:t>2. 商品レビュー（67%）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Yu Gothic"/>
              </a:rPr>
              <a:t>3. グルメ（63%）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  <a:latin typeface="Yu Gothic"/>
              </a:rPr>
              <a:t>Confidential | Chateraise Indonesia Market Analysis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60175" y="62179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Yu Gothic"/>
              </a:rPr>
              <a:t>19 / 31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33333"/>
                </a:solidFill>
                <a:latin typeface="Yu Gothic"/>
              </a:rPr>
              <a:t>SWOT分析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66666"/>
                </a:solidFill>
                <a:latin typeface="Yu Gothic"/>
              </a:rPr>
              <a:t>SWOT Analysis — シャトレーゼ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303520" cy="2560320"/>
          </a:xfrm>
          <a:prstGeom prst="roundRect">
            <a:avLst/>
          </a:prstGeom>
          <a:solidFill>
            <a:srgbClr val="FD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C41E3A"/>
                </a:solidFill>
                <a:latin typeface="Yu Gothic"/>
              </a:rPr>
              <a:t>Strengths（強み）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Yu Gothic"/>
              </a:rPr>
              <a:t>  「日本直輸入」「日本品質」のブランド力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Yu Gothic"/>
              </a:rPr>
              <a:t>  甘さ控えめで健康志向層に訴求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Yu Gothic"/>
              </a:rPr>
              <a:t>  Gobelグループとの強力なパートナーシップ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Yu Gothic"/>
              </a:rPr>
              <a:t>  現地工場による価格競争力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Yu Gothic"/>
              </a:rPr>
              <a:t>  カカオ農家支援によるサステナビリティ訴求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188720"/>
            <a:ext cx="5303520" cy="2560320"/>
          </a:xfrm>
          <a:prstGeom prst="round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E86C00"/>
                </a:solidFill>
                <a:latin typeface="Yu Gothic"/>
              </a:rPr>
              <a:t>Weaknesses（弱み）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Yu Gothic"/>
              </a:rPr>
              <a:t>  店舗数は競合に劣る（約40 vs HB 470）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Yu Gothic"/>
              </a:rPr>
              <a:t>  ハラル認証の取得状況が不明確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Yu Gothic"/>
              </a:rPr>
              <a:t>  SNSフォロワー数で韓国系に劣る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931920"/>
            <a:ext cx="5303520" cy="25603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0D872A"/>
                </a:solidFill>
                <a:latin typeface="Yu Gothic"/>
              </a:rPr>
              <a:t>Opportunities（機会）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Yu Gothic"/>
              </a:rPr>
              <a:t>  2億7,000万人市場へのアクセス拡大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Yu Gothic"/>
              </a:rPr>
              <a:t>  新工場稼働（2026年）による価格競争力強化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Yu Gothic"/>
              </a:rPr>
              <a:t>  「日本品質×手頃な価格」のブルーオーシャン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Yu Gothic"/>
              </a:rPr>
              <a:t>  健康志向トレンドとの親和性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Yu Gothic"/>
              </a:rPr>
              <a:t>  オンライン・デリバリーチャネルの成長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Yu Gothic"/>
              </a:rPr>
              <a:t>  ラマダン等のギフトシーズン需要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3931920"/>
            <a:ext cx="5303520" cy="256032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800"/>
              </a:spcAft>
            </a:pPr>
            <a:r>
              <a:rPr sz="1600" b="1">
                <a:solidFill>
                  <a:srgbClr val="1A73E8"/>
                </a:solidFill>
                <a:latin typeface="Yu Gothic"/>
              </a:rPr>
              <a:t>Threats（脅威）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Yu Gothic"/>
              </a:rPr>
              <a:t>  韓国系ベーカリーの積極展開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Yu Gothic"/>
              </a:rPr>
              <a:t>  消費者の節約志向の高まり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Yu Gothic"/>
              </a:rPr>
              <a:t>  Holland Bakeryの圧倒的店舗網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Yu Gothic"/>
              </a:rPr>
              <a:t>  ハラル認証の重要性増大</a:t>
            </a:r>
          </a:p>
          <a:p>
            <a:pPr>
              <a:spcAft>
                <a:spcPts val="300"/>
              </a:spcAft>
            </a:pPr>
            <a:r>
              <a:rPr sz="1000">
                <a:solidFill>
                  <a:srgbClr val="333333"/>
                </a:solidFill>
                <a:latin typeface="Yu Gothic"/>
              </a:rPr>
              <a:t>  原材料コスト上昇リスク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  <a:latin typeface="Yu Gothic"/>
              </a:rPr>
              <a:t>Confidential | Chateraise Indonesia Market Analysis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60175" y="62179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Yu Gothic"/>
              </a:rPr>
              <a:t>20 / 31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33333"/>
                </a:solidFill>
                <a:latin typeface="Yu Gothic"/>
              </a:rPr>
              <a:t>CEP分析概要 — 12のカテゴリーエントリーポイント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66666"/>
                </a:solidFill>
                <a:latin typeface="Yu Gothic"/>
              </a:rPr>
              <a:t>Category Entry Point Analysis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188720"/>
          <a:ext cx="11430000" cy="4517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34747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C41E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CEP</a:t>
                      </a:r>
                    </a:p>
                  </a:txBody>
                  <a:tcPr anchor="ctr">
                    <a:solidFill>
                      <a:srgbClr val="C41E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説明</a:t>
                      </a:r>
                    </a:p>
                  </a:txBody>
                  <a:tcPr anchor="ctr">
                    <a:solidFill>
                      <a:srgbClr val="C41E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間口</a:t>
                      </a:r>
                    </a:p>
                  </a:txBody>
                  <a:tcPr anchor="ctr">
                    <a:solidFill>
                      <a:srgbClr val="C41E3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プロモーション・割引時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40%OFF、Buy1Get1等の割引キャンペーン時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記念日・祝日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独立記念日、National Customer Day、旧正月等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ラマダン・イフタール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断食明けの食事、ラマダン期間のギフト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④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日常のパン購入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朝食用、日常の軽食としてのパン購入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朝食・モーニング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朝の食事シーン、出勤前の軽食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⑥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ギフト・手土産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お祝い、お見舞い、訪問時の手土産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中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デザート・スイーツタイム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午後のおやつ、食後のデザート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トレンド商品体験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バイラル商品（抹茶、ドバイチョコ等）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中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韓国文化体験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K-POP、韓国ドラマからの影響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小〜中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⑩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プレミアム・贅沢体験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自分へのご褒美、特別な日の贅沢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小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⑪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日本品質・日本ブランド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#DirectlyFromJapan、日本式の丁寧さ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小〜中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⑫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甘さ控えめ・ヘルシー志向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甘すぎないスイーツ、健康を意識した選択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小〜中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  <a:latin typeface="Yu Gothic"/>
              </a:rPr>
              <a:t>Confidential | Chateraise Indonesia Market Analysis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0175" y="62179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Yu Gothic"/>
              </a:rPr>
              <a:t>21 / 31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33333"/>
                </a:solidFill>
                <a:latin typeface="Yu Gothic"/>
              </a:rPr>
              <a:t>CEP言及率 — 5社比較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66666"/>
                </a:solidFill>
                <a:latin typeface="Yu Gothic"/>
              </a:rPr>
              <a:t>CEP Mention Rate by Brand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188720"/>
          <a:ext cx="11429999" cy="4480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2857"/>
                <a:gridCol w="1632857"/>
                <a:gridCol w="1632857"/>
                <a:gridCol w="1632857"/>
                <a:gridCol w="1632857"/>
                <a:gridCol w="1632857"/>
                <a:gridCol w="1632857"/>
              </a:tblGrid>
              <a:tr h="320039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CEP</a:t>
                      </a:r>
                    </a:p>
                  </a:txBody>
                  <a:tcPr anchor="ctr">
                    <a:solidFill>
                      <a:srgbClr val="C41E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シャトレーゼ</a:t>
                      </a:r>
                    </a:p>
                  </a:txBody>
                  <a:tcPr anchor="ctr">
                    <a:solidFill>
                      <a:srgbClr val="C41E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TLJ</a:t>
                      </a:r>
                    </a:p>
                  </a:txBody>
                  <a:tcPr anchor="ctr">
                    <a:solidFill>
                      <a:srgbClr val="C41E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PB</a:t>
                      </a:r>
                    </a:p>
                  </a:txBody>
                  <a:tcPr anchor="ctr">
                    <a:solidFill>
                      <a:srgbClr val="C41E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HB</a:t>
                      </a:r>
                    </a:p>
                  </a:txBody>
                  <a:tcPr anchor="ctr">
                    <a:solidFill>
                      <a:srgbClr val="C41E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Harvest</a:t>
                      </a:r>
                    </a:p>
                  </a:txBody>
                  <a:tcPr anchor="ctr">
                    <a:solidFill>
                      <a:srgbClr val="C41E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間口</a:t>
                      </a:r>
                    </a:p>
                  </a:txBody>
                  <a:tcPr anchor="ctr">
                    <a:solidFill>
                      <a:srgbClr val="C41E3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① プロモーション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13.8%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26.8%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22.8%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29.3%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7.3%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615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② 記念日・祝日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14.4%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24.8%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23.2%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28.0%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9.6%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625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③ ラマダン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8.2%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24.7%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27.8%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33.0%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6.2%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485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④ 日常パン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16.0%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24.4%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21.8%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31.9%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5.9%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595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⑤ 朝食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15.7%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19.1%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28.1%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31.5%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5.6%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445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⑥ ギフト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15.4%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21.2%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20.2%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25.0%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18.3%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520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⑦ デザート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19.3%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22.8%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21.1%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16.7%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20.2%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570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⑧ トレンド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11.9%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28.7%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27.7%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13.9%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17.8%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505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⑨ 韓国文化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3.9%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46.1%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42.1%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5.3%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2.6%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380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⑩ プレミアム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16.1%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20.4%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23.7%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11.8%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28.0%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465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⑪ 日本品質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36.2%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13.0%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14.5%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20.3%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15.9%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345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⑫ 甘さ控えめ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27.5%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20.3%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18.8%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14.5%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18.8%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345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005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平均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16.0%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24.5%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24.2%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22.9%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12.4%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5880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  <a:latin typeface="Yu Gothic"/>
              </a:rPr>
              <a:t>Confidential | Chateraise Indonesia Market Analysis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0175" y="62179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Yu Gothic"/>
              </a:rPr>
              <a:t>22 / 31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33333"/>
                </a:solidFill>
                <a:latin typeface="Yu Gothic"/>
              </a:rPr>
              <a:t>メンタルアドバンテージ分析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66666"/>
                </a:solidFill>
                <a:latin typeface="Yu Gothic"/>
              </a:rPr>
              <a:t>Mental Advantage / Disadvantage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10515600" cy="1828800"/>
          </a:xfrm>
          <a:prstGeom prst="roundRect">
            <a:avLst/>
          </a:prstGeom>
          <a:solidFill>
            <a:srgbClr val="FD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C41E3A"/>
                </a:solidFill>
                <a:latin typeface="Yu Gothic"/>
              </a:rPr>
              <a:t>シャトレーゼのMA（メンタルアドバンテージ）: 3個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Yu Gothic"/>
              </a:rPr>
              <a:t>⑪ 日本品質 (+24)  — 圧倒的1位、競合不可侵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Yu Gothic"/>
              </a:rPr>
              <a:t>⑫ 甘さ控えめ (+14) — 健康志向層の独自領域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Yu Gothic"/>
              </a:rPr>
              <a:t>⑦ デザート (+10)   — The Harvestと並ぶ強み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474720"/>
            <a:ext cx="10515600" cy="1463040"/>
          </a:xfrm>
          <a:prstGeom prst="round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C41E3A"/>
                </a:solidFill>
                <a:latin typeface="Yu Gothic"/>
              </a:rPr>
              <a:t>シャトレーゼのMD（メンタルディスアドバンテージ）: 2個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Yu Gothic"/>
              </a:rPr>
              <a:t>⑨ 韓国文化 (-13) — TLJ/PBが独占。正面衝突は避ける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Yu Gothic"/>
              </a:rPr>
              <a:t>③ ラマダン (-9)    — ハラル認証取得で改善可能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5120640"/>
          <a:ext cx="105156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/>
                <a:gridCol w="1752600"/>
                <a:gridCol w="1752600"/>
                <a:gridCol w="1752600"/>
                <a:gridCol w="1752600"/>
                <a:gridCol w="1752600"/>
              </a:tblGrid>
              <a:tr h="3200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指標</a:t>
                      </a:r>
                    </a:p>
                  </a:txBody>
                  <a:tcPr anchor="ctr">
                    <a:solidFill>
                      <a:srgbClr val="C41E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シャトレーゼ</a:t>
                      </a:r>
                    </a:p>
                  </a:txBody>
                  <a:tcPr anchor="ctr">
                    <a:solidFill>
                      <a:srgbClr val="C41E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TLJ</a:t>
                      </a:r>
                    </a:p>
                  </a:txBody>
                  <a:tcPr anchor="ctr">
                    <a:solidFill>
                      <a:srgbClr val="C41E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PB</a:t>
                      </a:r>
                    </a:p>
                  </a:txBody>
                  <a:tcPr anchor="ctr">
                    <a:solidFill>
                      <a:srgbClr val="C41E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HB</a:t>
                      </a:r>
                    </a:p>
                  </a:txBody>
                  <a:tcPr anchor="ctr">
                    <a:solidFill>
                      <a:srgbClr val="C41E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Harvest</a:t>
                      </a:r>
                    </a:p>
                  </a:txBody>
                  <a:tcPr anchor="ctr">
                    <a:solidFill>
                      <a:srgbClr val="C41E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CEPリンク総数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940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1440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1425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1345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730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平均言及率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16.0%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24.5%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24.2%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22.9%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12.4%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MA数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MD数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  <a:latin typeface="Yu Gothic"/>
              </a:rPr>
              <a:t>Confidential | Chateraise Indonesia Market Analysis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60175" y="62179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Yu Gothic"/>
              </a:rPr>
              <a:t>23 / 31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33333"/>
                </a:solidFill>
                <a:latin typeface="Yu Gothic"/>
              </a:rPr>
              <a:t>ブルーオーシャンCEP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66666"/>
                </a:solidFill>
                <a:latin typeface="Yu Gothic"/>
              </a:rPr>
              <a:t>Blue Ocean — 競合が入れない領域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303520" cy="4389120"/>
          </a:xfrm>
          <a:prstGeom prst="roundRect">
            <a:avLst/>
          </a:prstGeom>
          <a:solidFill>
            <a:srgbClr val="FDE8EB"/>
          </a:solidFill>
          <a:ln w="254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600"/>
              </a:spcAft>
            </a:pPr>
            <a:r>
              <a:rPr sz="2000" b="1">
                <a:solidFill>
                  <a:srgbClr val="C41E3A"/>
                </a:solidFill>
                <a:latin typeface="Yu Gothic"/>
              </a:rPr>
              <a:t>CEP⑪ 日本品質・日本ブランド</a:t>
            </a:r>
          </a:p>
          <a:p>
            <a:pPr>
              <a:spcAft>
                <a:spcPts val="400"/>
              </a:spcAft>
            </a:pPr>
            <a:r>
              <a:rPr sz="2800" b="1">
                <a:solidFill>
                  <a:srgbClr val="C41E3A"/>
                </a:solidFill>
                <a:latin typeface="Yu Gothic"/>
              </a:rPr>
              <a:t>言及率: 36.2%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市場1位  |  2位 HB 20.3%に+15.9pt差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C41E3A"/>
                </a:solidFill>
                <a:latin typeface="Yu Gothic"/>
              </a:rPr>
              <a:t>MA: +24ポイント（圧倒的）</a:t>
            </a:r>
          </a:p>
          <a:p>
            <a:pPr>
              <a:spcAft>
                <a:spcPts val="400"/>
              </a:spcAft>
            </a:pPr>
            <a:r>
              <a:rPr sz="800" b="0">
                <a:solidFill>
                  <a:srgbClr val="333333"/>
                </a:solidFill>
                <a:latin typeface="Yu Gothic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333333"/>
                </a:solidFill>
                <a:latin typeface="Yu Gothic"/>
              </a:rPr>
              <a:t>競合が真似できない領域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Yu Gothic"/>
              </a:rPr>
              <a:t>韓国系はK-POP、HBはローカルで勝負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Yu Gothic"/>
              </a:rPr>
              <a:t>「日本品質×手頃価格」はシャトレーゼだけが占有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280160"/>
            <a:ext cx="5303520" cy="438912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0D8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600"/>
              </a:spcAft>
            </a:pPr>
            <a:r>
              <a:rPr sz="2000" b="1">
                <a:solidFill>
                  <a:srgbClr val="0D872A"/>
                </a:solidFill>
                <a:latin typeface="Yu Gothic"/>
              </a:rPr>
              <a:t>CEP⑫ 甘さ控えめ・ヘルシー志向</a:t>
            </a:r>
          </a:p>
          <a:p>
            <a:pPr>
              <a:spcAft>
                <a:spcPts val="400"/>
              </a:spcAft>
            </a:pPr>
            <a:r>
              <a:rPr sz="2800" b="1">
                <a:solidFill>
                  <a:srgbClr val="0D872A"/>
                </a:solidFill>
                <a:latin typeface="Yu Gothic"/>
              </a:rPr>
              <a:t>言及率: 27.5%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Yu Gothic"/>
              </a:rPr>
              <a:t>市場1位  |  2位 TLJ 20.3%に+7.2pt差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0D872A"/>
                </a:solidFill>
                <a:latin typeface="Yu Gothic"/>
              </a:rPr>
              <a:t>MA: +14ポイント</a:t>
            </a:r>
          </a:p>
          <a:p>
            <a:pPr>
              <a:spcAft>
                <a:spcPts val="400"/>
              </a:spcAft>
            </a:pPr>
            <a:r>
              <a:rPr sz="800" b="0">
                <a:solidFill>
                  <a:srgbClr val="333333"/>
                </a:solidFill>
                <a:latin typeface="Yu Gothic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333333"/>
                </a:solidFill>
                <a:latin typeface="Yu Gothic"/>
              </a:rPr>
              <a:t>インドネシアの隠れたニーズ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Yu Gothic"/>
              </a:rPr>
              <a:t>「甘すぎる」がペインポイント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666666"/>
                </a:solidFill>
                <a:latin typeface="Yu Gothic"/>
              </a:rPr>
              <a:t>健康志向の若者・中間層に刺さる差別化要素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  <a:latin typeface="Yu Gothic"/>
              </a:rPr>
              <a:t>Confidential | Chateraise Indonesia Market Analysis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60175" y="62179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Yu Gothic"/>
              </a:rPr>
              <a:t>24 / 31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33333"/>
                </a:solidFill>
                <a:latin typeface="Yu Gothic"/>
              </a:rPr>
              <a:t>CEP戦略提言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66666"/>
                </a:solidFill>
                <a:latin typeface="Yu Gothic"/>
              </a:rPr>
              <a:t>CEP Strategy Recommendations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10789920" cy="1280160"/>
          </a:xfrm>
          <a:prstGeom prst="roundRect">
            <a:avLst/>
          </a:prstGeom>
          <a:solidFill>
            <a:srgbClr val="FD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C41E3A"/>
                </a:solidFill>
                <a:latin typeface="Yu Gothic"/>
              </a:rPr>
              <a:t>短期（〜6ヶ月）: CEP⑦ デザート強化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Yu Gothic"/>
              </a:rPr>
              <a:t>訴求: 「甘さ控えめ、日本品質のデザート」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Yu Gothic"/>
              </a:rPr>
              <a:t>SNS: #LessSweet #JapaneseQuality のUGC促進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Yu Gothic"/>
              </a:rPr>
              <a:t>狙う競合: The Harvest（同じデザート強み、しかし高価格）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834640"/>
            <a:ext cx="10789920" cy="1280160"/>
          </a:xfrm>
          <a:prstGeom prst="round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C41E3A"/>
                </a:solidFill>
                <a:latin typeface="Yu Gothic"/>
              </a:rPr>
              <a:t>中期（6ヶ月〜1年）: CEP④ 日常パン参入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Yu Gothic"/>
              </a:rPr>
              <a:t>前提: 新工場稼働による価格競争力確保（Rp 15,000以下）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Yu Gothic"/>
              </a:rPr>
              <a:t>訴求: 「毎日食べられる日本のパン」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Yu Gothic"/>
              </a:rPr>
              <a:t>注意: HBの+17は強力。「品質重視層」を狙う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389120"/>
            <a:ext cx="10789920" cy="128016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C41E3A"/>
                </a:solidFill>
                <a:latin typeface="Yu Gothic"/>
              </a:rPr>
              <a:t>長期（1年〜）: CEP③ ラマダン MD解消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Yu Gothic"/>
              </a:rPr>
              <a:t>必須条件: ハラル認証の取得・明確な訴求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Yu Gothic"/>
              </a:rPr>
              <a:t>訴求: 「ハラル認証取得、日本品質のイフタールスイーツ」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Yu Gothic"/>
              </a:rPr>
              <a:t>商品: ラマダン限定ギフトボックス、イフタール向けセット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43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666666"/>
                </a:solidFill>
                <a:latin typeface="Yu Gothic"/>
              </a:rPr>
              <a:t>回避: CEP⑨韓国文化（TLJ/PBが独占）、CEP⑩プレミアム（Harvestが支配）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  <a:latin typeface="Yu Gothic"/>
              </a:rPr>
              <a:t>Confidential | Chateraise Indonesia Market Analysis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60175" y="62179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Yu Gothic"/>
              </a:rPr>
              <a:t>25 / 31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33333"/>
                </a:solidFill>
                <a:latin typeface="Yu Gothic"/>
              </a:rPr>
              <a:t>TikTok口コミ分析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66666"/>
                </a:solidFill>
                <a:latin typeface="Yu Gothic"/>
              </a:rPr>
              <a:t>TikTok Word-of-Mouth Analysis — 243 posts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6858000" cy="4325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9319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順位</a:t>
                      </a:r>
                    </a:p>
                  </a:txBody>
                  <a:tcPr anchor="ctr">
                    <a:solidFill>
                      <a:srgbClr val="C41E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ワード</a:t>
                      </a:r>
                    </a:p>
                  </a:txBody>
                  <a:tcPr anchor="ctr">
                    <a:solidFill>
                      <a:srgbClr val="C41E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出現数</a:t>
                      </a:r>
                    </a:p>
                  </a:txBody>
                  <a:tcPr anchor="ctr">
                    <a:solidFill>
                      <a:srgbClr val="C41E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備考</a:t>
                      </a:r>
                    </a:p>
                  </a:txBody>
                  <a:tcPr anchor="ctr">
                    <a:solidFill>
                      <a:srgbClr val="C41E3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chateraise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177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ブランド名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mochi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89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最も言及される商品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enak（おいしい）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圧倒的な評価ワード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beli（買う）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購買意欲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cake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ケーキ全般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cream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36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クリーム系商品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matcha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抹茶フレーバー人気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halal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ハラル認証への関心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promo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プロモーション・割引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manis（甘い）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甘さへの言及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72400" y="1188720"/>
            <a:ext cx="3657600" cy="1645920"/>
          </a:xfrm>
          <a:prstGeom prst="roundRect">
            <a:avLst/>
          </a:prstGeom>
          <a:solidFill>
            <a:srgbClr val="FD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C41E3A"/>
                </a:solidFill>
                <a:latin typeface="Yu Gothic"/>
              </a:rPr>
              <a:t>商品カテゴリ TOP3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Yu Gothic"/>
              </a:rPr>
              <a:t>1. mochi（89回）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Yu Gothic"/>
              </a:rPr>
              <a:t>2. cake（39回）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Yu Gothic"/>
              </a:rPr>
              <a:t>3. cream（36回）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3108960"/>
            <a:ext cx="3657600" cy="1645920"/>
          </a:xfrm>
          <a:prstGeom prst="roundRect">
            <a:avLst/>
          </a:prstGeom>
          <a:solidFill>
            <a:srgbClr val="FD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C41E3A"/>
                </a:solidFill>
                <a:latin typeface="Yu Gothic"/>
              </a:rPr>
              <a:t>評価ワード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Yu Gothic"/>
              </a:rPr>
              <a:t>enak（88回）= おいしい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Yu Gothic"/>
              </a:rPr>
              <a:t>manis（30回）= 甘い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Yu Gothic"/>
              </a:rPr>
              <a:t>lembut（18回）= やわらかい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5029200"/>
            <a:ext cx="3657600" cy="1188720"/>
          </a:xfrm>
          <a:prstGeom prst="roundRect">
            <a:avLst/>
          </a:prstGeom>
          <a:solidFill>
            <a:srgbClr val="FD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C41E3A"/>
                </a:solidFill>
                <a:latin typeface="Yu Gothic"/>
              </a:rPr>
              <a:t>注目キーワード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Yu Gothic"/>
              </a:rPr>
              <a:t>halal（33回）→ 認証への高い関心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Yu Gothic"/>
              </a:rPr>
              <a:t>jepang（17回）→ 日本ブランド認知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  <a:latin typeface="Yu Gothic"/>
              </a:rPr>
              <a:t>Confidential | Chateraise Indonesia Market Analysis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60175" y="62179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Yu Gothic"/>
              </a:rPr>
              <a:t>26 / 31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33333"/>
                </a:solidFill>
                <a:latin typeface="Yu Gothic"/>
              </a:rPr>
              <a:t>口コミインサイト — 5つの発見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66666"/>
                </a:solidFill>
                <a:latin typeface="Yu Gothic"/>
              </a:rPr>
              <a:t>Key Insights from TikTok Analysis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188720"/>
            <a:ext cx="411480" cy="411480"/>
          </a:xfrm>
          <a:prstGeom prst="ellipse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14300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Yu Gothic"/>
              </a:rPr>
              <a:t>Mochi が圧倒的人気商品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490472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66666"/>
                </a:solidFill>
                <a:latin typeface="Yu Gothic"/>
              </a:rPr>
              <a:t>89回言及で全商品中1位。chocolate mochi viralで400万再生級。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194560"/>
            <a:ext cx="411480" cy="411480"/>
          </a:xfrm>
          <a:prstGeom prst="ellipse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14884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Yu Gothic"/>
              </a:rPr>
              <a:t>「enak」が最多の評価ワード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496312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66666"/>
                </a:solidFill>
                <a:latin typeface="Yu Gothic"/>
              </a:rPr>
              <a:t>88回の「おいしい」評価。ポジティブな口コミが圧倒的。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200400"/>
            <a:ext cx="411480" cy="411480"/>
          </a:xfrm>
          <a:prstGeom prst="ellipse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15468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Yu Gothic"/>
              </a:rPr>
              <a:t>Halal への関心が高い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502152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66666"/>
                </a:solidFill>
                <a:latin typeface="Yu Gothic"/>
              </a:rPr>
              <a:t>33回の言及。質問・懸念として頻出。認証の明確化が必要。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206240"/>
            <a:ext cx="411480" cy="411480"/>
          </a:xfrm>
          <a:prstGeom prst="ellipse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16052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Yu Gothic"/>
              </a:rPr>
              <a:t>Matcha が人気フレーバー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507992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66666"/>
                </a:solidFill>
                <a:latin typeface="Yu Gothic"/>
              </a:rPr>
              <a:t>34回言及。「日本＝抹茶」の強い連想が存在。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5212080"/>
            <a:ext cx="411480" cy="411480"/>
          </a:xfrm>
          <a:prstGeom prst="ellipse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516636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Yu Gothic"/>
              </a:rPr>
              <a:t>プロモへの反応が強い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5513832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66666"/>
                </a:solidFill>
                <a:latin typeface="Yu Gothic"/>
              </a:rPr>
              <a:t>promo/diskon 合計45回。価格感度の高い市場。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  <a:latin typeface="Yu Gothic"/>
              </a:rPr>
              <a:t>Confidential | Chateraise Indonesia Market Analysis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60175" y="62179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Yu Gothic"/>
              </a:rPr>
              <a:t>27 / 31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33333"/>
                </a:solidFill>
                <a:latin typeface="Yu Gothic"/>
              </a:rPr>
              <a:t>統合戦略：押し出すべき商品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66666"/>
                </a:solidFill>
                <a:latin typeface="Yu Gothic"/>
              </a:rPr>
              <a:t>Integrated Strategy — Priority Products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3566160" cy="4572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spcAft>
                <a:spcPts val="1200"/>
              </a:spcAft>
            </a:pPr>
            <a:r>
              <a:rPr sz="1800" b="1">
                <a:solidFill>
                  <a:srgbClr val="C41E3A"/>
                </a:solidFill>
                <a:latin typeface="Yu Gothic"/>
              </a:rPr>
              <a:t>最優先: Mochi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Yu Gothic"/>
              </a:rPr>
              <a:t>口コミ言及数89回（全商品1位）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Yu Gothic"/>
              </a:rPr>
              <a:t>バイラル実績: 400万再生級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Yu Gothic"/>
              </a:rPr>
              <a:t>差別化: 日本式の本格mochi = 競合不可侵</a:t>
            </a:r>
          </a:p>
          <a:p>
            <a:pPr>
              <a:spcBef>
                <a:spcPts val="1200"/>
              </a:spcBef>
            </a:pPr>
            <a:r>
              <a:rPr sz="1100" b="1">
                <a:solidFill>
                  <a:srgbClr val="666666"/>
                </a:solidFill>
                <a:latin typeface="Yu Gothic"/>
              </a:rPr>
              <a:t>具体的アイテム:</a:t>
            </a:r>
          </a:p>
          <a:p>
            <a:r>
              <a:rPr sz="1100">
                <a:solidFill>
                  <a:srgbClr val="666666"/>
                </a:solidFill>
                <a:latin typeface="Yu Gothic"/>
              </a:rPr>
              <a:t>Nama Chocolate Mochi / Matcha Mochi / Warabi Mochi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280160"/>
            <a:ext cx="3566160" cy="4572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8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spcAft>
                <a:spcPts val="1200"/>
              </a:spcAft>
            </a:pPr>
            <a:r>
              <a:rPr sz="1800" b="1">
                <a:solidFill>
                  <a:srgbClr val="0D872A"/>
                </a:solidFill>
                <a:latin typeface="Yu Gothic"/>
              </a:rPr>
              <a:t>2位: Matcha系商品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Yu Gothic"/>
              </a:rPr>
              <a:t>フレーバー中1位（34回言及）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Yu Gothic"/>
              </a:rPr>
              <a:t>「日本＝抹茶」の強い連想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Yu Gothic"/>
              </a:rPr>
              <a:t>韓国系は抹茶で勝負できない</a:t>
            </a:r>
          </a:p>
          <a:p>
            <a:pPr>
              <a:spcBef>
                <a:spcPts val="1200"/>
              </a:spcBef>
            </a:pPr>
            <a:r>
              <a:rPr sz="1100" b="1">
                <a:solidFill>
                  <a:srgbClr val="666666"/>
                </a:solidFill>
                <a:latin typeface="Yu Gothic"/>
              </a:rPr>
              <a:t>具体的アイテム:</a:t>
            </a:r>
          </a:p>
          <a:p>
            <a:r>
              <a:rPr sz="1100">
                <a:solidFill>
                  <a:srgbClr val="666666"/>
                </a:solidFill>
                <a:latin typeface="Yu Gothic"/>
              </a:rPr>
              <a:t>Matcha Ice Cream / Matcha Cake / Matcha Roll Cake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280160"/>
            <a:ext cx="3566160" cy="4572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spcAft>
                <a:spcPts val="1200"/>
              </a:spcAft>
            </a:pPr>
            <a:r>
              <a:rPr sz="1800" b="1">
                <a:solidFill>
                  <a:srgbClr val="1A73E8"/>
                </a:solidFill>
                <a:latin typeface="Yu Gothic"/>
              </a:rPr>
              <a:t>3位: Cream Puff / Eclair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Yu Gothic"/>
              </a:rPr>
              <a:t>「eclair enak banget」の評価多数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Yu Gothic"/>
              </a:rPr>
              <a:t>Rp 15,000以下で提供可能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Yu Gothic"/>
              </a:rPr>
              <a:t>CEP④「日常パン」への参入商品</a:t>
            </a:r>
          </a:p>
          <a:p>
            <a:pPr>
              <a:spcBef>
                <a:spcPts val="1200"/>
              </a:spcBef>
            </a:pPr>
            <a:r>
              <a:rPr sz="1100" b="1">
                <a:solidFill>
                  <a:srgbClr val="666666"/>
                </a:solidFill>
                <a:latin typeface="Yu Gothic"/>
              </a:rPr>
              <a:t>具体的アイテム:</a:t>
            </a:r>
          </a:p>
          <a:p>
            <a:r>
              <a:rPr sz="1100">
                <a:solidFill>
                  <a:srgbClr val="666666"/>
                </a:solidFill>
                <a:latin typeface="Yu Gothic"/>
              </a:rPr>
              <a:t>Cream Puff / Eclair / Custard商品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  <a:latin typeface="Yu Gothic"/>
              </a:rPr>
              <a:t>Confidential | Chateraise Indonesia Market Analysis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60175" y="62179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Yu Gothic"/>
              </a:rPr>
              <a:t>28 / 31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33333"/>
                </a:solidFill>
                <a:latin typeface="Yu Gothic"/>
              </a:rPr>
              <a:t>統合戦略：押し出すべき訴求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66666"/>
                </a:solidFill>
                <a:latin typeface="Yu Gothic"/>
              </a:rPr>
              <a:t>Integrated Strategy — Key Messages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0972800" cy="1417320"/>
          </a:xfrm>
          <a:prstGeom prst="roundRect">
            <a:avLst/>
          </a:prstGeom>
          <a:solidFill>
            <a:srgbClr val="FD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C41E3A"/>
                </a:solidFill>
                <a:latin typeface="Yu Gothic"/>
              </a:rPr>
              <a:t>最優先訴求: 「甘さ控えめ」    |    MA +14（市場1位）    |    manis（30回言及）/ ヘルスコンシャス層の増加</a:t>
            </a:r>
          </a:p>
          <a:p>
            <a:r>
              <a:rPr sz="1200">
                <a:solidFill>
                  <a:srgbClr val="333333"/>
                </a:solidFill>
                <a:latin typeface="Yu Gothic"/>
              </a:rPr>
              <a:t>JP: 「甘さ控えめ、だから毎日食べられる」    |    ID: "Tidak Terlalu Manis, Bisa Dinikmati Setiap Hari"    |    #LessSweet #GuiltyFree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834640"/>
            <a:ext cx="10972800" cy="141732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1A73E8"/>
                </a:solidFill>
                <a:latin typeface="Yu Gothic"/>
              </a:rPr>
              <a:t>2位訴求: 「日本品質」    |    MA +24（市場1位、圧倒的）    |    jepang（17回言及）/ 競合不可侵</a:t>
            </a:r>
          </a:p>
          <a:p>
            <a:r>
              <a:rPr sz="1200">
                <a:solidFill>
                  <a:srgbClr val="333333"/>
                </a:solidFill>
                <a:latin typeface="Yu Gothic"/>
              </a:rPr>
              <a:t>JP: 「日本から届く、毎日のご褒美」    |    ID: "Kualitas Jepang, Harga Terjangkau"    |    #DirectlyFromJapan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480560"/>
            <a:ext cx="10972800" cy="1417320"/>
          </a:xfrm>
          <a:prstGeom prst="round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E86C00"/>
                </a:solidFill>
                <a:latin typeface="Yu Gothic"/>
              </a:rPr>
              <a:t>要対応訴求: 「ハラル」    |    ラマダンCEPで-9 MD    |    halal（33回言及）/ ムスリム人口2億人超</a:t>
            </a:r>
          </a:p>
          <a:p>
            <a:r>
              <a:rPr sz="1200">
                <a:solidFill>
                  <a:srgbClr val="333333"/>
                </a:solidFill>
                <a:latin typeface="Yu Gothic"/>
              </a:rPr>
              <a:t>JP: ハラル認証取得 → 全面訴求    |    ID: "Halal Certified"    |    認証取得が最優先アクション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  <a:latin typeface="Yu Gothic"/>
              </a:rPr>
              <a:t>Confidential | Chateraise Indonesia Market Analysis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60175" y="62179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Yu Gothic"/>
              </a:rPr>
              <a:t>29 / 31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33333"/>
                </a:solidFill>
                <a:latin typeface="Yu Gothic"/>
              </a:rPr>
              <a:t>アクションプラン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66666"/>
                </a:solidFill>
                <a:latin typeface="Yu Gothic"/>
              </a:rPr>
              <a:t>Action Plan — Short / Mid / Long Term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474720" cy="3200400"/>
          </a:xfrm>
          <a:prstGeom prst="roundRect">
            <a:avLst/>
          </a:prstGeom>
          <a:solidFill>
            <a:srgbClr val="FD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C41E3A"/>
                </a:solidFill>
                <a:latin typeface="Yu Gothic"/>
              </a:rPr>
              <a:t>短期（〜6ヶ月）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Yu Gothic"/>
              </a:rPr>
              <a:t>1. ハラル認証の取得・訴求強化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Yu Gothic"/>
              </a:rPr>
              <a:t>2. Rp 15,000以下の商品ラインナップ拡充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Yu Gothic"/>
              </a:rPr>
              <a:t>3. Instagram・TikTokフォロワー拡大施策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Yu Gothic"/>
              </a:rPr>
              <a:t>4. ラマダン向けギフト商品の開発・プロモーション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188720"/>
            <a:ext cx="3474720" cy="3200400"/>
          </a:xfrm>
          <a:prstGeom prst="roundRect">
            <a:avLst/>
          </a:prstGeom>
          <a:solidFill>
            <a:srgbClr val="FD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E86C00"/>
                </a:solidFill>
                <a:latin typeface="Yu Gothic"/>
              </a:rPr>
              <a:t>中期（6ヶ月〜1年）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Yu Gothic"/>
              </a:rPr>
              <a:t>5. デリバリー対応の強化（Grab、GoFood）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Yu Gothic"/>
              </a:rPr>
              <a:t>6. 「甘さ控えめ」のUGC促進キャンペーン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Yu Gothic"/>
              </a:rPr>
              <a:t>7. 決済アプリ連携プロモーション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Yu Gothic"/>
              </a:rPr>
              <a:t>8. 地方都市への出店加速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188720"/>
            <a:ext cx="3474720" cy="320040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1A73E8"/>
                </a:solidFill>
                <a:latin typeface="Yu Gothic"/>
              </a:rPr>
              <a:t>長期（1年〜）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Yu Gothic"/>
              </a:rPr>
              <a:t>9. ブカシ新工場稼働に合わせた大規模プロモ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Yu Gothic"/>
              </a:rPr>
              <a:t>10. カカオ農家支援ストーリーのブランディング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Yu Gothic"/>
              </a:rPr>
              <a:t>11. 450店舗体制に向けたFC展開検討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4754880"/>
          <a:ext cx="109728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フェーズ</a:t>
                      </a:r>
                    </a:p>
                  </a:txBody>
                  <a:tcPr anchor="ctr">
                    <a:solidFill>
                      <a:srgbClr val="C41E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期間</a:t>
                      </a:r>
                    </a:p>
                  </a:txBody>
                  <a:tcPr anchor="ctr">
                    <a:solidFill>
                      <a:srgbClr val="C41E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重点CEP</a:t>
                      </a:r>
                    </a:p>
                  </a:txBody>
                  <a:tcPr anchor="ctr">
                    <a:solidFill>
                      <a:srgbClr val="C41E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KPI</a:t>
                      </a:r>
                    </a:p>
                  </a:txBody>
                  <a:tcPr anchor="ctr">
                    <a:solidFill>
                      <a:srgbClr val="C41E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短期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〜6ヶ月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⑪⑫（独自CEP強化）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言及率: ⑪→40%、⑫→30%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中期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6ヶ月〜1年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⑦④⑤（参入・拡大）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平均言及率: 16%→20%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長期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1年〜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③（ハラル対応）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ラマダンCEP: 8%→15%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  <a:latin typeface="Yu Gothic"/>
              </a:rPr>
              <a:t>Confidential | Chateraise Indonesia Market Analysis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60175" y="62179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Yu Gothic"/>
              </a:rPr>
              <a:t>30 / 31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600" b="1">
                <a:solidFill>
                  <a:srgbClr val="FFFFFF"/>
                </a:solidFill>
                <a:latin typeface="Yu Gothic"/>
              </a:rPr>
              <a:t>結論</a:t>
            </a:r>
          </a:p>
          <a:p>
            <a:r>
              <a:rPr sz="2000">
                <a:solidFill>
                  <a:srgbClr val="FFFFFF"/>
                </a:solidFill>
                <a:latin typeface="Yu Gothic"/>
              </a:rPr>
              <a:t>「総合力では負けているが、独自の土俵では圧勝している」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743200"/>
            <a:ext cx="10515600" cy="1828800"/>
          </a:xfrm>
          <a:prstGeom prst="roundRect">
            <a:avLst/>
          </a:prstGeom>
          <a:solidFill>
            <a:srgbClr val="FDE8EB"/>
          </a:solidFill>
          <a:ln w="254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800"/>
              </a:spcAft>
            </a:pPr>
            <a:r>
              <a:rPr sz="2800" b="1">
                <a:solidFill>
                  <a:srgbClr val="C41E3A"/>
                </a:solidFill>
                <a:latin typeface="Yu Gothic"/>
              </a:rPr>
              <a:t>Mochi × 甘さ控えめ × 日本品質</a:t>
            </a:r>
          </a:p>
          <a:p>
            <a:r>
              <a:rPr sz="1600">
                <a:solidFill>
                  <a:srgbClr val="333333"/>
                </a:solidFill>
                <a:latin typeface="Yu Gothic"/>
              </a:rPr>
              <a:t>を軸に展開し、ハラル対応を急ぐ。これが CEP分析・口コミ分析・市場分析の3つを統合した最適解。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846320"/>
            <a:ext cx="3200400" cy="1371600"/>
          </a:xfrm>
          <a:prstGeom prst="roundRect">
            <a:avLst/>
          </a:prstGeom>
          <a:solidFill>
            <a:srgbClr val="FD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C41E3A"/>
                </a:solidFill>
                <a:latin typeface="Yu Gothic"/>
              </a:rPr>
              <a:t>独自CEPで勝つ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Yu Gothic"/>
              </a:rPr>
              <a:t>日本品質(MA+24)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Yu Gothic"/>
              </a:rPr>
              <a:t>甘さ控えめ(MA+14)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4846320"/>
            <a:ext cx="3200400" cy="1371600"/>
          </a:xfrm>
          <a:prstGeom prst="roundRect">
            <a:avLst/>
          </a:prstGeom>
          <a:solidFill>
            <a:srgbClr val="FD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C41E3A"/>
                </a:solidFill>
                <a:latin typeface="Yu Gothic"/>
              </a:rPr>
              <a:t>Mochiを主力に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Yu Gothic"/>
              </a:rPr>
              <a:t>口コミ89回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Yu Gothic"/>
              </a:rPr>
              <a:t>バイラル実績あり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4846320"/>
            <a:ext cx="3200400" cy="1371600"/>
          </a:xfrm>
          <a:prstGeom prst="roundRect">
            <a:avLst/>
          </a:prstGeom>
          <a:solidFill>
            <a:srgbClr val="FD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C41E3A"/>
                </a:solidFill>
                <a:latin typeface="Yu Gothic"/>
              </a:rPr>
              <a:t>ハラル対応を急ぐ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Yu Gothic"/>
              </a:rPr>
              <a:t>口コミ33回の懸念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333333"/>
                </a:solidFill>
                <a:latin typeface="Yu Gothic"/>
              </a:rPr>
              <a:t>2億人市場へのキー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FFFFFF"/>
                </a:solidFill>
                <a:latin typeface="Yu Gothic"/>
              </a:rPr>
              <a:t>Confidential | Chateraise Indonesia Market Analysis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60175" y="62179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66666"/>
                </a:solidFill>
                <a:latin typeface="Yu Gothic"/>
              </a:rPr>
              <a:t>31 / 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