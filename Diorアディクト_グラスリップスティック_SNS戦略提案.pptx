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8" r:id="rId29"/>
    <p:sldId id="279" r:id="rId30"/>
    <p:sldId id="280" r:id="rId3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2"/>
                </a:solidFill>
                <a:latin typeface="Arial"/>
              </a:defRPr>
            </a:pPr>
            <a:r>
              <a:t>D I O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eiryo"/>
              </a:defRPr>
            </a:pPr>
            <a:r>
              <a:t>アディクト グラス リップスティック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8EA8"/>
                </a:solidFill>
                <a:latin typeface="Meiryo"/>
              </a:defRPr>
            </a:pPr>
            <a:r>
              <a:t>SNS戦略提案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962"/>
                </a:solidFill>
                <a:latin typeface="Meiryo"/>
              </a:defRPr>
            </a:pPr>
            <a:r>
              <a:t>ツヤ感と信頼性のトレードオフを終わらせる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8EA8"/>
                </a:solidFill>
                <a:latin typeface="Meiryo"/>
              </a:defRPr>
            </a:pPr>
            <a:r>
              <a:t>発売日：2026年5月1日　｜　予算：1,200万円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Meiryo"/>
              </a:defRPr>
            </a:pPr>
            <a:r>
              <a:t>全11色 / 限定2色　｜　Oil-to-Gel 二相変化処方　｜　3種リフィラブルケース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  <a:latin typeface="Arial"/>
              </a:defRPr>
            </a:pPr>
            <a:r>
              <a:t>STRATEGIC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2743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ツヤ感と信頼性（荒れない・色持ち）の</a:t>
            </a:r>
            <a:br/>
            <a:r>
              <a:t>トレードオフが常識化した市場で、</a:t>
            </a:r>
            <a:br/>
            <a:r>
              <a:t>Diorはどうやってこの常識を壊し、</a:t>
            </a:r>
            <a:br/>
            <a:r>
              <a:t>GenZ層を獲得するか？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200400" cy="256032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3200400" cy="4114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クライアント課題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CCCCDD"/>
                </a:solidFill>
                <a:latin typeface="Meiryo"/>
              </a:defRPr>
            </a:pPr>
            <a:r>
              <a:t>• GenZ獲得不足・顧客の高齢化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CCCCDD"/>
                </a:solidFill>
                <a:latin typeface="Meiryo"/>
              </a:defRPr>
            </a:pPr>
            <a:r>
              <a:t>• 購買に繋がる「熱量ある口コミ」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CCCCDD"/>
                </a:solidFill>
                <a:latin typeface="Meiryo"/>
              </a:defRPr>
            </a:pPr>
            <a:r>
              <a:t>• 「再現性のあるバズ設計」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CCCCDD"/>
                </a:solidFill>
                <a:latin typeface="Meiryo"/>
              </a:defRPr>
            </a:pPr>
            <a:r>
              <a:t>• 4チーム合議制（PMM/デジタル/メディア/PR）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657600"/>
            <a:ext cx="3200400" cy="256032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657600"/>
            <a:ext cx="3200400" cy="41148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市場の構造的問題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eiryo"/>
              </a:defRPr>
            </a:pPr>
            <a:r>
              <a:t>デパコスリップは「高価格なのに機能的価値が低い」と見られている。</a:t>
            </a:r>
            <a:br/>
            <a:br/>
            <a:r>
              <a:t>CHANELは色持ち68・PC相性99・荒れない104と、ほぼ全機能で最下位クラス。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657600"/>
            <a:ext cx="3200400" cy="256032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3657600"/>
            <a:ext cx="3200400" cy="4114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製品スペック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eiryo"/>
              </a:defRPr>
            </a:pPr>
            <a:r>
              <a:t>コンプリート 5,930円</a:t>
            </a:r>
            <a:br/>
            <a:r>
              <a:t>リフィル 4,730円</a:t>
            </a:r>
            <a:br/>
            <a:r>
              <a:t>ケース 5,280円</a:t>
            </a:r>
            <a:br/>
            <a:br/>
            <a:r>
              <a:t>Oil-to-Gel 二相変化処方</a:t>
            </a:r>
            <a:br/>
            <a:r>
              <a:t>3種リフィラブルケース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A962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競合の構造分析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8EA8"/>
                </a:solidFill>
                <a:latin typeface="Meiryo"/>
              </a:defRPr>
            </a:pPr>
            <a:r>
              <a:t>市場に空いている穴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ファクタースコアが示すトレードオフ構造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8ブランド口コミ分析（@cosme）から抽出した購買決定要因スコア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914400"/>
                <a:gridCol w="914400"/>
                <a:gridCol w="91440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ブランド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ツヤ感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荒れない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色持ち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保湿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PC相性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ポジション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ツヤの王者。だが荒れやすい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RMK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465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色持ちの王者。ツヤは弱い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KANEBO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420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荒れない+バランス。ツヤは平凡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YSL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449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保湿+ツヤ。色持ちが致命的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Fwee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ちゅるん感。ベタつく+持たない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SUQQU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ケースだけ評価。機能は弱い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CHANEL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ブランド力のみ。機能は最下位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オペラ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バランス型。突出なし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73152" cy="10972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5B7C"/>
                </a:solidFill>
                <a:latin typeface="Meiryo"/>
              </a:defRPr>
            </a:pPr>
            <a:r>
              <a:t>市場の真実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eiryo"/>
              </a:defRPr>
            </a:pPr>
            <a:r>
              <a:t>「ツヤ感」AND「荒れない」AND「色持ち」を同時に持つブランドが存在しない → Dior Glassの空白地帯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ポジショニングマップ：空白地帯の可視化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" y="0"/>
            <a:ext cx="0" cy="7315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377440" y="3657600"/>
            <a:ext cx="7315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0" y="-365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A2A"/>
                </a:solidFill>
                <a:latin typeface="Meiryo"/>
              </a:defRPr>
            </a:pPr>
            <a:r>
              <a:t>ツヤ感 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7406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A2A"/>
                </a:solidFill>
                <a:latin typeface="Meiryo"/>
              </a:defRPr>
            </a:pPr>
            <a:r>
              <a:t>ツヤ感 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A0A2A"/>
                </a:solidFill>
                <a:latin typeface="Meiryo"/>
              </a:defRPr>
            </a:pPr>
            <a:r>
              <a:t>信頼性 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0A2A"/>
                </a:solidFill>
                <a:latin typeface="Meiryo"/>
              </a:defRPr>
            </a:pPr>
            <a:r>
              <a:t>信頼性 高</a:t>
            </a:r>
          </a:p>
        </p:txBody>
      </p:sp>
      <p:sp>
        <p:nvSpPr>
          <p:cNvPr id="11" name="Oval 10"/>
          <p:cNvSpPr/>
          <p:nvPr/>
        </p:nvSpPr>
        <p:spPr>
          <a:xfrm>
            <a:off x="6428232" y="8503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822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KATE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194767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YSL</a:t>
            </a:r>
          </a:p>
        </p:txBody>
      </p:sp>
      <p:sp>
        <p:nvSpPr>
          <p:cNvPr id="15" name="Oval 14"/>
          <p:cNvSpPr/>
          <p:nvPr/>
        </p:nvSpPr>
        <p:spPr>
          <a:xfrm>
            <a:off x="4599432" y="31363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Fwee</a:t>
            </a:r>
          </a:p>
        </p:txBody>
      </p:sp>
      <p:sp>
        <p:nvSpPr>
          <p:cNvPr id="17" name="Oval 16"/>
          <p:cNvSpPr/>
          <p:nvPr/>
        </p:nvSpPr>
        <p:spPr>
          <a:xfrm>
            <a:off x="6245352" y="31363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オペラ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58795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5852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CHANEL</a:t>
            </a:r>
          </a:p>
        </p:txBody>
      </p:sp>
      <p:sp>
        <p:nvSpPr>
          <p:cNvPr id="21" name="Oval 20"/>
          <p:cNvSpPr/>
          <p:nvPr/>
        </p:nvSpPr>
        <p:spPr>
          <a:xfrm>
            <a:off x="4599432" y="523951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5212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SUQQU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49651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KANEBO</a:t>
            </a:r>
          </a:p>
        </p:txBody>
      </p:sp>
      <p:sp>
        <p:nvSpPr>
          <p:cNvPr id="25" name="Oval 24"/>
          <p:cNvSpPr/>
          <p:nvPr/>
        </p:nvSpPr>
        <p:spPr>
          <a:xfrm>
            <a:off x="8714232" y="4965192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RMK</a:t>
            </a:r>
          </a:p>
        </p:txBody>
      </p:sp>
      <p:sp>
        <p:nvSpPr>
          <p:cNvPr id="27" name="Oval 26"/>
          <p:cNvSpPr/>
          <p:nvPr/>
        </p:nvSpPr>
        <p:spPr>
          <a:xfrm>
            <a:off x="8257032" y="667512"/>
            <a:ext cx="128016" cy="128016"/>
          </a:xfrm>
          <a:prstGeom prst="ellipse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★ Dior Glass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1097280"/>
            <a:ext cx="4114800" cy="256032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5B7C"/>
                </a:solidFill>
                <a:latin typeface="Meiryo"/>
              </a:defRPr>
            </a:pPr>
            <a:r>
              <a:t>トレードオフの構造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6459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KATE：ツヤ610 だが 荒れない78</a:t>
            </a:r>
            <a:br/>
            <a:r>
              <a:t>  → ツヤを選ぶと唇が犠牲に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KANEBO：荒れない366 だが ツヤ204</a:t>
            </a:r>
            <a:br/>
            <a:r>
              <a:t>  → 安心を選ぶとツヤを諦める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RMK：色持ち727 だが ツヤ162</a:t>
            </a:r>
            <a:br/>
            <a:r>
              <a:t>  → 持続を選ぶと仕上がりが地味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C"/>
                </a:solidFill>
                <a:latin typeface="Meiryo"/>
              </a:defRPr>
            </a:pPr>
            <a:r>
              <a:t>→ Dior Glassは右上の空白地帯を狙う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競合の具体的な弱点（口コミ引用）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65836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競合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弱点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消費者の声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Fwee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ベタベタする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「香りが気になる方は、店舗で確認必須」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KANEBO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色持ちでRMKに劣る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「色持ちは若干RMKが上かな」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荒れる、容量1.6g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「テスターがないので、ちょっと強気な販売戦略だよね？」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RMK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ケース汚れやすい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ケース不満→SUQQU購入のクロスブランド行動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SUQQU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BAも色持ちの弱さを認めている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YSL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コップに色移り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「飲食すると落ちる」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CHANEL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高いのに機能弱い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「このお値段でこれだとリピートはないかな」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オペラ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蛍光ピンク転び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「ブラウンみが落ちてピンク残りが目立ってしまう」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760720"/>
            <a:ext cx="73152" cy="73152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eiryo"/>
              </a:defRPr>
            </a:pPr>
            <a:r>
              <a:t>消費者はこのトレードオフを「仕方ないもの」として受け入れている。</a:t>
            </a:r>
            <a:br/>
            <a:r>
              <a:t>→ Dior Glass はこの「諦め」を解消する唯一の製品になれる。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A962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WHO：「質感難民」という消費者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8EA8"/>
                </a:solidFill>
                <a:latin typeface="Meiryo"/>
              </a:defRPr>
            </a:pPr>
            <a:r>
              <a:t>Strategic Target &amp; Consumer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ターゲット定義 &amp; Consumer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201168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Strategic Target（ST）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ツヤ系リップを愛用するが、ベタつき・色落ち・荒れのいずれかで妥協している20-30代女性。</a:t>
            </a:r>
            <a:br/>
            <a:br/>
            <a:r>
              <a:t>デパコスもプチプラも横断的に試す「結果重視」の消費者。ブランド名ではなく仕上がりと使用感で判断する層。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029200" cy="2011680"/>
          </a:xfrm>
          <a:prstGeom prst="rect">
            <a:avLst/>
          </a:prstGeom>
          <a:solidFill>
            <a:srgbClr val="F5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Prime Prospect（PP）：「質感難民」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「色持ちのいいリップは皮むけすることが多く、グロス系しか使っていなかった」</a:t>
            </a:r>
            <a:br/>
            <a:br/>
            <a:r>
              <a:t>「どんなリップを使っても必ず唇が乾燥し、皮がむけていた…こちらは荒れにくかった」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29184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妥協パターン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選んでいるブランド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犠牲にしているもの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ツヤを優先、持ちは諦め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Fwee, YSL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色持ち（昼に塗り直し前提）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安全を優先、ツヤは諦め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KANEBO, RMK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仕上がりの華やかさ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コスパで妥協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KATE, オペラ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荒れリスク or 質感の深み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2"/>
                </a:solidFill>
                <a:latin typeface="Meiryo"/>
              </a:defRPr>
            </a:pPr>
            <a:r>
              <a:t>Consumer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「とろけるようなツヤ感のリップがほしい — でも、ツヤ系はすぐ落ちるし、ベタつくし、荒れるから、結局妥協して使っている」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Consumer Insight 構造 &amp; 認識変化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47472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3474720" cy="4572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155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I want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eiryo"/>
              </a:defRPr>
            </a:pPr>
            <a:r>
              <a:t>直感的ニーズ / System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eiryo"/>
              </a:defRPr>
            </a:pPr>
            <a:r>
              <a:t>むっちり、ちゅるんとした最高のツヤ感。</a:t>
            </a:r>
            <a:br/>
            <a:r>
              <a:t>塗った瞬間に「これだ」と思えるテクスチャー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097280"/>
            <a:ext cx="347472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097280"/>
            <a:ext cx="3474720" cy="4572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1155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Have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3716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eiryo"/>
              </a:defRPr>
            </a:pPr>
            <a:r>
              <a:t>根源的欲求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eiryo"/>
              </a:defRPr>
            </a:pPr>
            <a:r>
              <a:t>自分の唇を最も美しく見せてくれるリップを</a:t>
            </a:r>
            <a:br/>
            <a:r>
              <a:t>「探し続ける旅」を終わらせたい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9" y="1097280"/>
            <a:ext cx="347472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097280"/>
            <a:ext cx="34747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1155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13716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eiryo"/>
              </a:defRPr>
            </a:pPr>
            <a:r>
              <a:t>論理的障壁 / System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eiryo"/>
              </a:defRPr>
            </a:pPr>
            <a:r>
              <a:t>経験上、ツヤ感が高いリップは持たない or</a:t>
            </a:r>
            <a:br/>
            <a:r>
              <a:t>ベタつく or 荒れる。だから妥協するしかない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認識変化（Recognition Change）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43891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696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 anchor="ctr">
                    <a:solidFill>
                      <a:srgbClr val="C45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5B7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現状認識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ツヤリップ = すぐ落ちる、ベタベタする、荒れるかもしれない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理想認識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ツヤリップ ≠ 妥協。Dior Glassならツヤも持ちも安全も全部手に入る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アプローチ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現状認識払拭型 — 消費者が諦めていたトレードオフを消す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A962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WHAT：メッセージアーキテクチャ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8EA8"/>
                </a:solidFill>
                <a:latin typeface="Meiryo"/>
              </a:defRPr>
            </a:pPr>
            <a:r>
              <a:t>Brand Concept / Big Idea / What to Say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Brand Concept &amp; Big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Brand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A2A"/>
                </a:solidFill>
                <a:latin typeface="Meiryo"/>
              </a:defRPr>
            </a:pPr>
            <a:r>
              <a:t>テクスチャーと信頼性のトレードオフを終わらせるリップ。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eiryo"/>
              </a:defRPr>
            </a:pPr>
            <a:r>
              <a:t>Oil-to-Gel テクノロジーが、カテゴリー最高のツヤ感を「落ちない・ベタつかない・荒れない」で実現。グロスの美しさとリップスティックの信頼性を、1本に。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0175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候補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独自性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シンプル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訴求力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柔軟性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一貫性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総合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#妥協しないツヤ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推奨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#ツヤに本気のリップ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次点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#もうグロスはいらない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話題性◎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#ツヤ、つづく、Dior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ブランド想起◎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2"/>
                </a:solidFill>
                <a:latin typeface="Meiryo"/>
              </a:defRPr>
            </a:pPr>
            <a:r>
              <a:t>#妥協しないツヤ  推奨理由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CCCCDD"/>
                </a:solidFill>
                <a:latin typeface="Meiryo"/>
              </a:defRPr>
            </a:pPr>
            <a:r>
              <a:t>• Insightの「妥協して使っている」を直撃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CCCCDD"/>
                </a:solidFill>
                <a:latin typeface="Meiryo"/>
              </a:defRPr>
            </a:pPr>
            <a:r>
              <a:t>• 認識変化（ツヤ=妥協 → ツヤ≠妥協）と完全連動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CCCCDD"/>
                </a:solidFill>
                <a:latin typeface="Meiryo"/>
              </a:defRPr>
            </a:pPr>
            <a:r>
              <a:t>• 美容レビュー系でもライフスタイル系でも使える柔軟性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CCCCDD"/>
                </a:solidFill>
                <a:latin typeface="Meiryo"/>
              </a:defRPr>
            </a:pPr>
            <a:r>
              <a:t>• 競合が同じ主張をするには同等のテクノロジー根拠が必要（模倣困難）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What to Say：ベネフィット &amp; RTB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54864" cy="100584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Communication Theme（USE）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eiryo"/>
              </a:defRPr>
            </a:pPr>
            <a:r>
              <a:t>「このリップをつけたら、いつ落ちるか、唇が荒れないか、もう気にしなくていい。ただ、今まで着けた中で一番きれいなツヤを楽しむだけ。」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2860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3474720"/>
                <a:gridCol w="38404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分類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ベネフィット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RTB（信じられる理由）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訴求先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Functional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POD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グロス級のツヤが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時間がたっても持続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Oil-to-Gel 二相テクノロジー：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オイルが唇上でジェル膜に変化し密着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美容レビュー系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Functional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POD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ツヤなのに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ベタつかない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ジェル膜化により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オイルが表面に残らない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美容レビュー系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Functional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唇が荒れない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皮むけしない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オイルベース処方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（乾燥剤不使用）/ 48h保湿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美容系 /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ギフティング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Emotional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「やっと見つけた」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リップ探しの旅が終わる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トレードオフが存在しない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唯一の製品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ライフスタイル系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Social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「どこのリップ？」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と聞かれる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3種ファッションケース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（自分らしいDiorの持ち方）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ライフスタイル系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A962"/>
                </a:solidFill>
                <a:latin typeface="Arial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HOW：Diorにしかできない実行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8EA8"/>
                </a:solidFill>
                <a:latin typeface="Meiryo"/>
              </a:defRPr>
            </a:pPr>
            <a:r>
              <a:t>Iconic Asset / 3ケース / KOL / コンテンツ / フェーズ / 予算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4-1 / 4-2. Iconic Asset &amp; 3ケース戦略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2743200"/>
          </a:xfrm>
          <a:prstGeom prst="rect">
            <a:avLst/>
          </a:prstGeom>
          <a:solidFill>
            <a:srgbClr val="FD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5029200" cy="4114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15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Iconic Asset：Oil-to-Gel 変化の瞬間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唇の上でオイルがジェルに変わる瞬間の</a:t>
            </a:r>
            <a:br/>
            <a:r>
              <a:t>クローズアップ動画がキャンペーンの核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テクノロジーの「目に見える証拠」= RTBそのもの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他社は同じ処方を持たないため模倣不可能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全色レビューで「変化の瞬間」を必ず含める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なぜDiorだけが使えるか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eiryo"/>
              </a:defRPr>
            </a:pPr>
            <a:r>
              <a:t>Oil-to-Gel二相変化テクノロジーを持つ製品が競合に存在しない。Fweeの「ちゅるん」は表面的な質感表現であり変化プロセスがない。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212080" cy="41148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15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3ケース = GenZのDiorエントリーポイント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2120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" cy="914400"/>
          </a:xfrm>
          <a:prstGeom prst="rect">
            <a:avLst/>
          </a:prstGeom>
          <a:solidFill>
            <a:srgbClr val="E88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8EA8"/>
                </a:solidFill>
                <a:latin typeface="Meiryo"/>
              </a:defRPr>
            </a:pPr>
            <a:r>
              <a:t>フラワーカナージュ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「Diorは派手すぎる」→ 柔らかさ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Meiryo"/>
              </a:defRPr>
            </a:pPr>
            <a:r>
              <a:t>ナチュラル・清楚系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花に囲まれた朝のルーティン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52120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97480"/>
            <a:ext cx="54864" cy="9144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C"/>
                </a:solidFill>
                <a:latin typeface="Meiryo"/>
              </a:defRPr>
            </a:pPr>
            <a:r>
              <a:t>ピンクボウ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「Diorは大人っぽすぎる」→ 遊び心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Meiryo"/>
              </a:defRPr>
            </a:pPr>
            <a:r>
              <a:t>ガーリー・トレンド好き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友達とのお出かけ準備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40"/>
            <a:ext cx="52120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49040"/>
            <a:ext cx="54864" cy="9144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7BB6"/>
                </a:solidFill>
                <a:latin typeface="Meiryo"/>
              </a:defRPr>
            </a:pPr>
            <a:r>
              <a:t>デニムオブリーク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「Diorはフェミニンすぎる」→ クール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Meiryo"/>
              </a:defRPr>
            </a:pPr>
            <a:r>
              <a:t>バリキャリ・エディター系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カフェでの知的な日常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97680"/>
            <a:ext cx="5212080" cy="685800"/>
          </a:xfrm>
          <a:prstGeom prst="rect">
            <a:avLst/>
          </a:prstGeom>
          <a:solidFill>
            <a:srgbClr val="F5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リフィルシステム：ケースは「消耗品」ではなく「資産」。2本目以降はリフィル4,730円。CHANELの「リピートはない」に対する構造的回答。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4-3. KOLアサイン：勉強会（美容系）× Paid（ファッション系）の二層構造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5029200" cy="4114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15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レイヤー1：勉強会 → 美容レビュー系 + 美容ライフスタイル系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製品体験・全色タッチアップ・Oil-to-Gel処方の理解</a:t>
            </a:r>
            <a:br/>
            <a:r>
              <a:t>→「トレードオフ消滅」を実体験として語れるKOL育成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過去ラーニングの活用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IG：Middle層を優先（Micro比ENG14倍）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TikTok：ENG実績のあるKOL優先（投稿後3ヶ月伸びる特性）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X：速報性重視（速報投稿が通常ENG/IMPを超過）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戦略的な追加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唇トラブルで知られるKOLを2-3名意図的に含める。</a:t>
            </a:r>
            <a:br/>
            <a:r>
              <a:t>荒れやすい消費者ほど「荒れなかった」時に最も熱量の高い口コミを書く。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4663440" cy="109728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2"/>
                </a:solidFill>
                <a:latin typeface="Meiryo"/>
              </a:defRPr>
            </a:pPr>
            <a:r>
              <a:t>想定される最強の口コミ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eiryo"/>
              </a:defRPr>
            </a:pPr>
            <a:r>
              <a:t>「ずっとツヤ系で妥協してきた。グロスはベタつくし落ちる、リップスティックは荒れる。でもこれは違った。ツヤなのに落ちない、べたつかない、荒れない。もう妥協しなくていい。」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21208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212080" cy="41148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115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レイヤー2：Paid → ファッション系インフルエンサー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なぜPaid別枠か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処方理解より「Diorを持つ私」の世界観発信が重要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世界観・トーンの統制 → Paidの方がコントロール可能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製品の機能訴求はしない（それは美容系の役割）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3108960"/>
          <a:ext cx="5212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19456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タイプ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ケース対応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コンテンツ方向性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パリガーリー系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ピンクボウ /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フラワーカナージュ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OOTD・お出かけ準備に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Dior Glassを自然に組込む</a:t>
                      </a:r>
                    </a:p>
                  </a:txBody>
                  <a:tcPr anchor="ctr"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モード・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エディター系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デニムオブリーク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カフェ・編集部での知的な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日常にDior Glassがある風景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ストリート・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ミックス系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デニムオブリーク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デニム×Diorのギャップ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での新鮮さ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原則：サムネに商品露出なし、顔を画角中心に。</a:t>
            </a:r>
            <a:br/>
            <a:r>
              <a:t>「どこのリップ？」と聞かれる投稿 = Social PODの体現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4-4. コンテンツ設計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すべてのコンテンツは「ツヤ vs 信頼性のトレードオフは消えた」を証明するために設計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3383280" cy="36576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69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美容レビュー系（機能証明）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Oil-to-Gel 変化クローズアップ【必須】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全色レビュー（11色+限定2色）【必須】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口元スウォッチ（手元NG）【必須】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PC別おすすめ【必須】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「グロス重ね vs これ1本」比較【必須】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4-6h後の状態比較【推奨】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べたつきテスト【推奨】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383280" cy="3657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69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美容ライフスタイル系（体験ベース）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顔アップシーン【必須】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サムネに商品露出なし【必須】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お気に入りカラー紹介【必須】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勉強会体験レポート【必須】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リフィル交換シーン【推奨】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51560"/>
            <a:ext cx="3383280" cy="36576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069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ファッション系Paid（世界観ベース）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508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ケース×自分のスタイル【必須】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OOTD / お出かけ準備シーン【必須】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顔アップ（仕上がり）【必須】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サムネに商品露出なし【必須】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2D2D2D"/>
                </a:solidFill>
                <a:latin typeface="Meiryo"/>
              </a:defRPr>
            </a:pPr>
            <a:r>
              <a:t>• ケースの開封・着せ替え【推奨】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4-5. フェーズ設計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463040" cy="91440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Teaser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eiryo"/>
              </a:defRPr>
            </a:pPr>
            <a:r>
              <a:t>4月上旬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097280"/>
            <a:ext cx="905256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143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2A"/>
                </a:solidFill>
                <a:latin typeface="Meiryo"/>
              </a:defRPr>
            </a:pPr>
            <a:r>
              <a:t>「何かが変わる」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63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Oil-to-Gel変化のティザー映像のみ。製品全容は見せない。好奇心の喚起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1463040" cy="91440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Reveal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eiryo"/>
              </a:defRPr>
            </a:pPr>
            <a:r>
              <a:t>4月中旬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194560"/>
            <a:ext cx="905256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240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2A"/>
                </a:solidFill>
                <a:latin typeface="Meiryo"/>
              </a:defRPr>
            </a:pPr>
            <a:r>
              <a:t>「トレードオフの終わり」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製品コンセプト発表。「グロスinリップスティック」の意味を解説。3ケースビジュアル公開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1463040" cy="9144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eiryo"/>
              </a:defRPr>
            </a:pPr>
            <a:r>
              <a:t>4月下旬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291840"/>
            <a:ext cx="905256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337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2A"/>
                </a:solidFill>
                <a:latin typeface="Meiryo"/>
              </a:defRPr>
            </a:pPr>
            <a:r>
              <a:t>「証明」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657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勉強会実施（美容レビュー+美容ライフスタイルKOLのみ）</a:t>
            </a:r>
            <a:br/>
            <a:r>
              <a:t>3ケースブース+全色体験。ギフティング発送（マイクロ15-20名）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19"/>
            <a:ext cx="1463040" cy="914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1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eiryo"/>
              </a:defRPr>
            </a:pPr>
            <a:r>
              <a:t>4/28-5/1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4389119"/>
            <a:ext cx="905256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43483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2A"/>
                </a:solidFill>
                <a:latin typeface="Meiryo"/>
              </a:defRPr>
            </a:pPr>
            <a:r>
              <a:t>「妥協しないツヤ」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7548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美容系口コミ解禁（速報投稿X）+ ファッション系Paid開始（IG/TikTok）</a:t>
            </a:r>
            <a:br/>
            <a:r>
              <a:t>「グロス vs これ1本」比較 + ケース世界観の同時展開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86400"/>
            <a:ext cx="1463040" cy="914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Sustain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eiryo"/>
              </a:defRPr>
            </a:pPr>
            <a:r>
              <a:t>5月上旬〜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486400"/>
            <a:ext cx="905256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5321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2A"/>
                </a:solidFill>
                <a:latin typeface="Meiryo"/>
              </a:defRPr>
            </a:pPr>
            <a:r>
              <a:t>「証明の民主化」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852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eiryo"/>
              </a:defRPr>
            </a:pPr>
            <a:r>
              <a:t>UGC拡散。PC別レビュー、色持ちテスト。</a:t>
            </a:r>
            <a:br/>
            <a:r>
              <a:t>ファッション系Paidの継続波でケース着せ替え・OOTD投稿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4-6. 予算配分（1,200万円）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914400"/>
                <a:gridCol w="603504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施策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予算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配分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戦略上の役割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勉強会（3ケースブース）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300万円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美容レビュー+美容ライフスタイルKOLの体験→RTB構築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美容レビュー系Paid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350万円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「トレードオフ消滅」の機能証明。Middle層中心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ファッション系Paid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250万円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パリガーリー等KOLの囲い込み。ケース世界観×「Diorを持つ私」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美容ライフスタイル系Paid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100万円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勉強会参加KOLの追加投稿枠・拡散ブースト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ギフティング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100万円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質感難民KOL含む先行口コミ醸成</a:t>
                      </a:r>
                    </a:p>
                  </a:txBody>
                  <a:tcPr anchor="ctr"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予備・制作費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100万円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Iconic Asset（Oil-to-Gel映像）制作等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0292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2560320" cy="4572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138928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勉強会 + ギフティング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76672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5B7C"/>
                </a:solidFill>
                <a:latin typeface="Meiryo"/>
              </a:defRPr>
            </a:pPr>
            <a:r>
              <a:t>33%（400万円）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50292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5029200"/>
            <a:ext cx="2560320" cy="4572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5138928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美容系Paid合計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5376672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2"/>
                </a:solidFill>
                <a:latin typeface="Meiryo"/>
              </a:defRPr>
            </a:pPr>
            <a:r>
              <a:t>37%（450万円）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0292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5029200"/>
            <a:ext cx="2560320" cy="4572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5138928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ファッション系Paid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5376672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7BB6"/>
                </a:solidFill>
                <a:latin typeface="Meiryo"/>
              </a:defRPr>
            </a:pPr>
            <a:r>
              <a:t>21%（250万円）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50292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5029200"/>
            <a:ext cx="25603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5138928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予備・制作費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5376672"/>
            <a:ext cx="2340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Meiryo"/>
              </a:defRPr>
            </a:pPr>
            <a:r>
              <a:t>8%（100万円）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5. 色持ちへの戦略的対処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回避するのではなく、正直に期待値を設定し、別の価値軸で上回る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696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対処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「色持ちは？」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と聞かれた場合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RMKほどの長時間密着ではないが、ツヤ持ち・保湿持ちはカテゴリー最高水準。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落ちた後も蛍光ピンク転びせず、綺麗に落ちる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ジャスミン香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への反応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Diorのシグネチャー原料（J'adore, Miss Dior）との接続。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「ほんのり」であることを勉強会で体験させ、初動口コミに自然に含める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11色で少ない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PC別推奨で「迷わず選べる」に転換。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全色レビューコンテンツで各色の個性を際立たせる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5,930円の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価格抵抗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リフィル4,730円の経済性。「2本目からリフィル」= ケースは資産。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KATEツヤバース（1.6g）より実質コスパが良い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6. 成功指標：戦略の認識変化を測る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戦略が機能したかどうかを測る指標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828800"/>
                <a:gridCol w="43891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レベル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目標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意味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認識変化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UGCで「落ちない」「べたつかない」と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「ツヤ」の共起言及率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獲得口コミの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30%以上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トレードオフ認識が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崩れた証拠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カテゴリー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所有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「グロスinリップスティック」の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SOVでDior帰属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50%以上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新カテゴリー=Dior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という認識の確立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口コミ品質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「質感」「処方」「テクスチャー」言及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vs 汎用「かわいい」の比率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40%以上が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機能言及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表層バズでなく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実質的な製品評価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商業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@cosme 発売30日後評価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5.0以上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POP要件の充足確認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GenZ獲得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IG/TikTok投稿者のうち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20代前半以下の比率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40%以上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クライアント課題への</a:t>
                      </a:r>
                    </a:p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直接回答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戦略の検証：3つの問い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0" cy="164592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97280"/>
            <a:ext cx="9784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2A"/>
                </a:solidFill>
                <a:latin typeface="Meiryo"/>
              </a:defRPr>
            </a:pPr>
            <a:r>
              <a:t>この戦略は、なぜDiorにしかできないのか？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Oil-to-Gel二相変化テクノロジーを持つ製品が競合にない → Iconic Assetが模倣不可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ファッションハウスとしてのDiorだけが、ケースを「ファッションアクセサリー」として正統に展開できる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ジャスミンの香りがDiorのフレグランス世界観（J'adore, Miss Dior）と接続する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731520" cy="164592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926080"/>
            <a:ext cx="9784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017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2A"/>
                </a:solidFill>
                <a:latin typeface="Meiryo"/>
              </a:defRPr>
            </a:pPr>
            <a:r>
              <a:t>ターゲットは具体的に誰で、何を諦めている人か？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「質感難民」= ツヤ系リップを好むが、ツヤ vs 信頼性のトレードオフに妥協し続けている消費者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「I want とろけるツヤ — but ツヤ系はすぐ落ちる・ベタつく・荒れるから妥協している」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731520" cy="164592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754880"/>
            <a:ext cx="9784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2A"/>
                </a:solidFill>
                <a:latin typeface="Meiryo"/>
              </a:defRPr>
            </a:pPr>
            <a:r>
              <a:t>消費者のどの認識を、どう変えるのか？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現状：「ツヤリップ = 落ちる・ベタつく」（仕方ないトレードオフとして受容）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理想：「ツヤリップ ≠ 妥協 = Dior Glassで解決済み」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Meiryo"/>
              </a:defRPr>
            </a:pPr>
            <a:r>
              <a:t>• 手段：Oil-to-Gel変化の視覚的証明 + 質感難民KOLの実体験語り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962"/>
                </a:solidFill>
                <a:latin typeface="Arial"/>
              </a:defRPr>
            </a:pPr>
            <a:r>
              <a:t>D I O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#妥協しないツヤ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8EA8"/>
                </a:solidFill>
                <a:latin typeface="Meiryo"/>
              </a:defRPr>
            </a:pPr>
            <a:r>
              <a:t>アディクト グラス リップスティック SNS戦略提案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BB"/>
                </a:solidFill>
                <a:latin typeface="Meiryo"/>
              </a:defRPr>
            </a:pPr>
            <a:r>
              <a:t>2026年5月1日発売　｜　予算 1,200万円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メンタルアドバンテージ / ディスアドバンテージ分析（全12要因）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500件均等サンプリング｜各要因のブランド別シェア(%) − 均等シェア(12.5%)　｜　■=MA(+5以上)　□=MD(-5以下)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05840"/>
          <a:ext cx="1069848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640080"/>
              </a:tblGrid>
              <a:tr h="4049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要因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オペラ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Fwee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KANEBO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KATE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RMK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YSL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SUQQU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CHANEL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間口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色味・発色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+5■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3304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保湿・潤い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1265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ツヤ感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+10■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+5■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-7□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-7□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-6□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2160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色持ち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+15■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-5□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-6□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2355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PC相性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+6■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2207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荒れない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+7■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-5□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1041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塗り心地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+5■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-5□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1586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パッケージ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-6□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-8□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+10■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2286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香り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-9□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+32■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-8□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-11□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-9□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+20■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-11□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549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コスパ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SNS影響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+2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+13■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-6□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anchor="ctr"/>
                </a:tc>
              </a:tr>
              <a:tr h="4049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0A2A"/>
                          </a:solidFill>
                          <a:latin typeface="Meiryo"/>
                        </a:defRPr>
                      </a:pPr>
                      <a:r>
                        <a:t>ぷっくり感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-9□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+29■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-6□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-10□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+14■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-8□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-7□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386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49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MA数 / MD数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 / 2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 / 1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 / 2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 / 3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 / 3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 / 0</a:t>
                      </a: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1 / 5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0 / 4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</a:p>
                  </a:txBody>
                  <a:tcPr anchor="ctr">
                    <a:solidFill>
                      <a:srgbClr val="E0E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ブランド別 MA/MD サマリー &amp; Dior Glassの戦略示唆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500件均等サンプリングによる偏り排除後の分析結果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2103120"/>
                <a:gridCol w="2103120"/>
                <a:gridCol w="48463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ブランド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MA数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MD数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最強MA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最弱MD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戦略ポジション</a:t>
                      </a:r>
                    </a:p>
                  </a:txBody>
                  <a:tcPr anchor="ctr">
                    <a:solidFill>
                      <a:srgbClr val="0A0A2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オペラ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ツヤ感(+10)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香り(-9)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ツヤ+塗り心地+色味のバランス型。MA3/MD2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Fwee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香り(+32)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塗り心地(-5)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香り+ぷっくりの感覚特化。塗り心地が弱い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KANEBO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荒れない(+7)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香り(-8)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荒れないの安心感のみ。パッケージ・香りが弱点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KATE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ツヤ感(+5)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香り(-11)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ツヤのみ。香り・パッケージ・ぷっくりが弱い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RMK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色持ち(+15)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ぷっくり感(-10)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色持ち+SNSの機能王。ツヤ・ぷっくり・香りが弱点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YSL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香り(+20)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香り+ぷっくりの感覚派。MDゼロで弱点なし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SUQQU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パッケージ(+10)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香り(-11)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パッケージのみ。MD5個で機能面は最弱クラス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CHANEL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ぷっくり感(-7)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2D2D"/>
                          </a:solidFill>
                          <a:latin typeface="Meiryo"/>
                        </a:defRPr>
                      </a:pPr>
                      <a:r>
                        <a:t>MAゼロ。ツヤ・色持ち・ぷっくり・SNSが全て弱い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502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500件均等サンプリング後のMA/MD分析が証明するトレードオフ構造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434840"/>
            <a:ext cx="2743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2743200" cy="54864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5B7C"/>
                </a:solidFill>
                <a:latin typeface="Meiryo"/>
              </a:defRPr>
            </a:pPr>
            <a:r>
              <a:t>オペラがツヤ+10■で</a:t>
            </a:r>
            <a:br/>
            <a:r>
              <a:t>実は最強のツヤブランド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色味+5, 塗り心地+5もMA</a:t>
            </a:r>
            <a:br/>
            <a:r>
              <a:t>バランス型だが香り-9,</a:t>
            </a:r>
            <a:br/>
            <a:r>
              <a:t>ぷっくり-9が弱点</a:t>
            </a:r>
            <a:br/>
            <a:br/>
            <a:r>
              <a:t>→ ツヤ×機能の好バランス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434840"/>
            <a:ext cx="2743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4434840"/>
            <a:ext cx="2743200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526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962"/>
                </a:solidFill>
                <a:latin typeface="Meiryo"/>
              </a:defRPr>
            </a:pPr>
            <a:r>
              <a:t>RMKは色持ち+15■/</a:t>
            </a:r>
            <a:br/>
            <a:r>
              <a:t>SNS+13■だがツヤ-7□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120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PC相性+6もMA（計3個）</a:t>
            </a:r>
            <a:br/>
            <a:r>
              <a:t>だがツヤ-7, ぷっくり-10,</a:t>
            </a:r>
            <a:br/>
            <a:r>
              <a:t>香り-9で感覚面が全敗</a:t>
            </a:r>
            <a:br/>
            <a:br/>
            <a:r>
              <a:t>→ 機能は強いがツヤで負ける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434840"/>
            <a:ext cx="2743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434840"/>
            <a:ext cx="2743200" cy="54864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26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7BB6"/>
                </a:solidFill>
                <a:latin typeface="Meiryo"/>
              </a:defRPr>
            </a:pPr>
            <a:r>
              <a:t>Fwee/YSLは香り+ぷっくりの</a:t>
            </a:r>
            <a:br/>
            <a:r>
              <a:t>感覚特化型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120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Fwee: 香り+32, ぷっくり+29</a:t>
            </a:r>
            <a:br/>
            <a:r>
              <a:t>YSL: 香り+20, ぷっくり+14</a:t>
            </a:r>
            <a:br/>
            <a:br/>
            <a:r>
              <a:t>機能面のMAが弱く</a:t>
            </a:r>
            <a:br/>
            <a:r>
              <a:t>→ 感覚だけで消費者を説得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4434840"/>
            <a:ext cx="2743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443484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4526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Meiryo"/>
              </a:defRPr>
            </a:pPr>
            <a:r>
              <a:t>CHANEL/SUQQUは</a:t>
            </a:r>
            <a:br/>
            <a:r>
              <a:t>機能面で全敗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120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CHANEL: MA0 / MD4</a:t>
            </a:r>
            <a:br/>
            <a:r>
              <a:t>SUQQU: MA1(パッケージのみ) / MD5</a:t>
            </a:r>
            <a:br/>
            <a:br/>
            <a:r>
              <a:t>ブランド力・ケースだけでは</a:t>
            </a:r>
            <a:br/>
            <a:r>
              <a:t>消費者を説得できない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2A"/>
                </a:solidFill>
                <a:latin typeface="Meiryo"/>
              </a:defRPr>
            </a:pPr>
            <a:r>
              <a:t>MA/MD分析に基づくDior Glass 勝利条件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eiryo"/>
              </a:defRPr>
            </a:pPr>
            <a:r>
              <a:t>500件均等サンプリング後の12要因×8ブランド分析から導く戦略ポジション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solidFill>
            <a:srgbClr val="C45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9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Dior Glassが取るべきMA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ツヤ感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00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Meiryo"/>
              </a:defRPr>
            </a:pPr>
            <a:r>
              <a:t>目標: +10以上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オペラの+10を超える。Oil-to-Gel変化の視覚的証明で圧倒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荒れない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Meiryo"/>
              </a:defRPr>
            </a:pPr>
            <a:r>
              <a:t>目標: +7以上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KANEBO(+7)に並ぶ。48h保湿設計がRTB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色味・発色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Meiryo"/>
              </a:defRPr>
            </a:pPr>
            <a:r>
              <a:t>目標: +5以上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オペラ(+5)と同等。全11色のPC別提案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19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062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塗り心地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06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Meiryo"/>
              </a:defRPr>
            </a:pPr>
            <a:r>
              <a:t>目標: +5以上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オペラ(+5)に並ぶ。ジェル膜化テクスチャー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5B7C"/>
                </a:solidFill>
                <a:latin typeface="Meiryo"/>
              </a:defRPr>
            </a:pPr>
            <a:r>
              <a:t>パッケージ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Meiryo"/>
              </a:defRPr>
            </a:pPr>
            <a:r>
              <a:t>目標: +10以上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49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SUQQU(+10)に並ぶ。3種ファッションケース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1051560"/>
            <a:ext cx="3657600" cy="41148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1069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要因別：Dior Glassが勝てる競合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155448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1600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ツヤ感で勝てる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1847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RMK(-7), SUQQU(-7), CHANEL(-6)</a:t>
            </a:r>
            <a:br/>
            <a:r>
              <a:t>→ 上位3ブランドがツヤで全敗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42316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2468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荒れないで勝てる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715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SUQQU(-5), KATE(-4)</a:t>
            </a:r>
            <a:br/>
            <a:r>
              <a:t>→ 信頼性で差別化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29184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3337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色持ちで勝てる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584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CHANEL(-6), SUQQU(-5), Fwee(-4)</a:t>
            </a:r>
            <a:br/>
            <a:r>
              <a:t>→ 持続力で優位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160519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20623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塗り心地で勝てる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453127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Fwee(-5), RMK(-4), SUQQU(-4)</a:t>
            </a:r>
            <a:br/>
            <a:r>
              <a:t>→ テクスチャー体験で圧倒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502920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5074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2"/>
                </a:solidFill>
                <a:latin typeface="Meiryo"/>
              </a:defRPr>
            </a:pPr>
            <a:r>
              <a:t>パッケージで勝てる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3218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eiryo"/>
              </a:defRPr>
            </a:pPr>
            <a:r>
              <a:t>KATE(-8), KANEBO(-6), オペラ(-2)</a:t>
            </a:r>
            <a:br/>
            <a:r>
              <a:t>→ 3ケースでファッション化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1051560"/>
            <a:ext cx="3566160" cy="41148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069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MA/MD分析の結論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1554480"/>
            <a:ext cx="3566160" cy="502920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2"/>
                </a:solidFill>
                <a:latin typeface="Meiryo"/>
              </a:defRPr>
            </a:pPr>
            <a:r>
              <a:t>市場の構造的真実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500件均等サンプリングで偏りを排除。「ツヤ感」AND「信頼性」を同時にMAとして持つブランドは存在しない。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C"/>
                </a:solidFill>
                <a:latin typeface="Meiryo"/>
              </a:defRPr>
            </a:pPr>
            <a:r>
              <a:t>オペラの教訓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ツヤ+10■でMA3個のバランス型だが、香り-9/ぷっくり-9で感覚面に穴がある。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7BB6"/>
                </a:solidFill>
                <a:latin typeface="Meiryo"/>
              </a:defRPr>
            </a:pPr>
            <a:r>
              <a:t>RMKの教訓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343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色持ち+15■/SNS+13■の機能王だがツヤ-7□/ぷっくり-10□。機能だけでは華やかさに欠ける。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2"/>
                </a:solidFill>
                <a:latin typeface="Meiryo"/>
              </a:defRPr>
            </a:pPr>
            <a:r>
              <a:t>Dior Glassの勝利条件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440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8EA8"/>
                </a:solidFill>
                <a:latin typeface="Meiryo"/>
              </a:defRPr>
            </a:pPr>
            <a:r>
              <a:t>Oil-to-Gelテクノロジーで「ツヤ感MA」AND「荒れないMA」AND「塗り心地MA」を同時に実現。</a:t>
            </a:r>
            <a:br/>
            <a:br/>
            <a:r>
              <a:t>+ 3ケースで「パッケージMA」も獲得。</a:t>
            </a:r>
            <a:br/>
            <a:br/>
            <a:r>
              <a:t>これが #妥協しないツヤ の定量的根拠。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